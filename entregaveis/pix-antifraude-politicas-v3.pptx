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2b431fb3e74c26" /><Relationship Type="http://schemas.openxmlformats.org/officeDocument/2006/relationships/extended-properties" Target="/docProps/app.xml" Id="R708d833024e144b1" /><Relationship Type="http://schemas.openxmlformats.org/officeDocument/2006/relationships/officeDocument" Target="/ppt/presentation.xml" Id="R134627e729e14c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39b24e2f2c4312"/>
  </p:sldMasterIdLst>
  <p:notesMasterIdLst>
    <p:notesMasterId xmlns:r="http://schemas.openxmlformats.org/officeDocument/2006/relationships" r:id="R20088382a76d401e"/>
  </p:notesMasterIdLst>
  <p:sldIdLst>
    <p:sldId xmlns:r="http://schemas.openxmlformats.org/officeDocument/2006/relationships" id="256" r:id="R42aef4f928934b82"/>
    <p:sldId xmlns:r="http://schemas.openxmlformats.org/officeDocument/2006/relationships" id="257" r:id="Rfb0454be6bb9437c"/>
    <p:sldId xmlns:r="http://schemas.openxmlformats.org/officeDocument/2006/relationships" id="258" r:id="R0e113095b1354bec"/>
    <p:sldId xmlns:r="http://schemas.openxmlformats.org/officeDocument/2006/relationships" id="259" r:id="R83566a3469174027"/>
    <p:sldId xmlns:r="http://schemas.openxmlformats.org/officeDocument/2006/relationships" id="260" r:id="Re526f46ef14e4d03"/>
    <p:sldId xmlns:r="http://schemas.openxmlformats.org/officeDocument/2006/relationships" id="261" r:id="R3d9d697e2e8f4def"/>
    <p:sldId xmlns:r="http://schemas.openxmlformats.org/officeDocument/2006/relationships" id="262" r:id="R2740baae5a894fd2"/>
    <p:sldId xmlns:r="http://schemas.openxmlformats.org/officeDocument/2006/relationships" id="263" r:id="R0cc871479c4b42a5"/>
    <p:sldId xmlns:r="http://schemas.openxmlformats.org/officeDocument/2006/relationships" id="264" r:id="Red1ed64ff250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967dc52ddb4345" /><Relationship Type="http://schemas.openxmlformats.org/officeDocument/2006/relationships/slideMaster" Target="/ppt/slideMasters/slideMaster1.xml" Id="R1439b24e2f2c4312" /><Relationship Type="http://schemas.openxmlformats.org/officeDocument/2006/relationships/notesMaster" Target="/ppt/notesMasters/notesMaster1.xml" Id="R20088382a76d401e" /><Relationship Type="http://schemas.openxmlformats.org/officeDocument/2006/relationships/presProps" Target="/ppt/presProps.xml" Id="Rcffcbd3dc5da4dce" /><Relationship Type="http://schemas.openxmlformats.org/officeDocument/2006/relationships/tableStyles" Target="/ppt/tableStyles.xml" Id="Ra02380f6edd9445e" /><Relationship Type="http://schemas.openxmlformats.org/officeDocument/2006/relationships/slide" Target="/ppt/slides/slide1.xml" Id="R42aef4f928934b82" /><Relationship Type="http://schemas.openxmlformats.org/officeDocument/2006/relationships/slide" Target="/ppt/slides/slide2.xml" Id="Rfb0454be6bb9437c" /><Relationship Type="http://schemas.openxmlformats.org/officeDocument/2006/relationships/slide" Target="/ppt/slides/slide3.xml" Id="R0e113095b1354bec" /><Relationship Type="http://schemas.openxmlformats.org/officeDocument/2006/relationships/slide" Target="/ppt/slides/slide4.xml" Id="R83566a3469174027" /><Relationship Type="http://schemas.openxmlformats.org/officeDocument/2006/relationships/slide" Target="/ppt/slides/slide5.xml" Id="Re526f46ef14e4d03" /><Relationship Type="http://schemas.openxmlformats.org/officeDocument/2006/relationships/slide" Target="/ppt/slides/slide6.xml" Id="R3d9d697e2e8f4def" /><Relationship Type="http://schemas.openxmlformats.org/officeDocument/2006/relationships/slide" Target="/ppt/slides/slide7.xml" Id="R2740baae5a894fd2" /><Relationship Type="http://schemas.openxmlformats.org/officeDocument/2006/relationships/slide" Target="/ppt/slides/slide8.xml" Id="R0cc871479c4b42a5" /><Relationship Type="http://schemas.openxmlformats.org/officeDocument/2006/relationships/slide" Target="/ppt/slides/slide9.xml" Id="Red1ed64ff250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94c978a8241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c9ffbc05b3403b" /><Relationship Type="http://schemas.openxmlformats.org/officeDocument/2006/relationships/notesMaster" Target="/ppt/notesMasters/notesMaster1.xml" Id="R386fc591230d4a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1a2594e4164573" /><Relationship Type="http://schemas.openxmlformats.org/officeDocument/2006/relationships/notesMaster" Target="/ppt/notesMasters/notesMaster1.xml" Id="R96671e1be20442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0fbd2693134c32" /><Relationship Type="http://schemas.openxmlformats.org/officeDocument/2006/relationships/notesMaster" Target="/ppt/notesMasters/notesMaster1.xml" Id="Rd47ce64061bf42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1ff4f6fe3c406f" /><Relationship Type="http://schemas.openxmlformats.org/officeDocument/2006/relationships/notesMaster" Target="/ppt/notesMasters/notesMaster1.xml" Id="Rcf404f076c124a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222ad612f64874" /><Relationship Type="http://schemas.openxmlformats.org/officeDocument/2006/relationships/notesMaster" Target="/ppt/notesMasters/notesMaster1.xml" Id="R924834dafb3c44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a61d6f241c4fed" /><Relationship Type="http://schemas.openxmlformats.org/officeDocument/2006/relationships/notesMaster" Target="/ppt/notesMasters/notesMaster1.xml" Id="R22b7d1ba4ed249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4b6da06fd544f3" /><Relationship Type="http://schemas.openxmlformats.org/officeDocument/2006/relationships/notesMaster" Target="/ppt/notesMasters/notesMaster1.xml" Id="R4253d275954f44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e86d051e1416c" /><Relationship Type="http://schemas.openxmlformats.org/officeDocument/2006/relationships/notesMaster" Target="/ppt/notesMasters/notesMaster1.xml" Id="R14dcda2ed19743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fb004fa1904b6c" /><Relationship Type="http://schemas.openxmlformats.org/officeDocument/2006/relationships/notesMaster" Target="/ppt/notesMasters/notesMaster1.xml" Id="Rc9defc9b353c45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Vinícius Guimarães Drexler e Wallace Dametto Teixeira. Escolhemos uma estrutura parecida com a do primeiro desafio porque ela segue boas práticas de organização e facilita a manutenção. O motivo dessa escolha também tem relação com a política de risco: precisamos conseguir revisar uma decisão e ajustar uma regra com clareza. Nesta apresentação, o foco são os motivos das políticas de decisão e das condições para flexibilizá-las.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Relato da equipe</a:t>
            </a:r>
          </a:p>
          <a:p xmlns:a="http://schemas.openxmlformats.org/drawingml/2006/main">
            <a:r>
              <a:t>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Nossa política procura equilibrar duas consequências: deixar passar uma operação de risco e interromper um pagamento legítimo. Uma conta recente, um aparelho novo ou um destinatário desconhecido podem ter explicações normais. Por isso pesquisamos práticas de prevenção a fraude e orientações do Banco Central, e estruturamos 13 regras para avaliar comportamento, valor e contexto. Os pesos e limites são escolhas do protótipo. Queremos reservar intervenções mais fortes para evidências mais fortes e usar confirmação adicional quando a informação ainda é insuficiente. Isso organiza as decisões sem transformar toda novidade em uma rejeição.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docs/risk-scoring.md</a:t>
            </a:r>
          </a:p>
          <a:p xmlns:a="http://schemas.openxmlformats.org/drawingml/2006/main">
            <a:r>
              <a:t>docs/politicas-negocio.md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Definimos três respostas para graduar a intervenção. Aprovar preserva a experiência quando não existe motivo suficiente para restringir. Pedir autenticação adicional permite verificar uma situação incerta sem rejeitá-la de imediato. Rejeitar atende limites fortes ou uma combinação intensa de fatores de risco. Na política atual, score a partir de 30 exige 2FA. A rejeição por score exige pelo menos 80 pontos e dois fatores positivos. Um fator isolado com 80 pede 2FA. A sexta tentativa ou R$ 30 mil acumulados em dez minutos são limites fortes e têm prioridade. Sem referência aprovada, valores a partir de R$ 500 exigem 2FA. Histórico acumulado e GNN também podem exigir confirmação, inclusive em uma operação com score baixo. Os valores são parâmetros do protótipo. A API solicita autenticação, mas não confirma que ela ocorreu.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docs/politicas-negocio.md</a:t>
            </a:r>
          </a:p>
          <a:p xmlns:a="http://schemas.openxmlformats.org/drawingml/2006/main">
            <a:r>
              <a:t>docs/gnn-contribution.md</a:t>
            </a:r>
          </a:p>
          <a:p xmlns:a="http://schemas.openxmlformats.org/drawingml/2006/main">
            <a:r>
              <a:t>config/risk-policy.json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risk score organiza a intensidade e a combinação dos sinais para evitar decisões desproporcionais. Um aparelho novo pode representar uma troca legítima. Com valor e histórico elegíveis, ele soma 20 pontos e, sozinho, não exige rejeição. Se o destinatário também for desconhecido, a soma chega a 35 e exige confirmação adicional. O peso de cada sinal representa uma escolha da equipe sobre o risco que merece atenção. Limitamos contribuições por fator para conter a sobreposição de regras parecidas. Também exigimos pelo menos dois fatores positivos para rejeitar por score. Esses fatores não representam independência estatística comprovada. O score é heurístico, entre zero e cem, e não uma probabilidade de 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docs/risk-scoring.md</a:t>
            </a:r>
          </a:p>
          <a:p xmlns:a="http://schemas.openxmlformats.org/drawingml/2006/main">
            <a:r>
              <a:t>docs/politicas-negocio.md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Tratamos negociação como flexibilização condicionada a evidências. Um valor alto em relação ao perfil geral pode ser habitual para aquele destinatário, como um pagamento recorrente. Nesse caso, o histórico da relação pode justificar retirar somente os pontos do desvio de valor. Exigimos cinco amostras do pagador e três da relação, em pelo menos dois dias distintos de recebimento, além de valor entre metade e o dobro da mediana da relação. Isso evita conceder uma exceção ampla com histórico escasso ou criado em uma rajada. Somente aprovações anteriores formam a referência de valores: rejeições e pendências não elevam o padrão. A flexibilização não elimina limites fortes, sinais de aparelho, acumulado ou exigência do grafo. Não há negociação dinâmica de limites com o cliente. O operador define as condições previamente.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docs/contextual-trust.md</a:t>
            </a:r>
          </a:p>
          <a:p xmlns:a="http://schemas.openxmlformats.org/drawingml/2006/main">
            <a:r>
              <a:t>docs/politicas-negocio.md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confiança tem limites porque familiaridade não elimina risco. A sexta tentativa ou o montante de R$ 30 mil em dez minutos rejeitam mesmo com destinatário conhecido. Repetir comportamentos de risco também merece atenção, por isso a conta reúne evidências próprias por 24 horas. A partir de 40 há 2FA e a partir de 60 há indicação de aviso ao banco, sem envio automático. Optamos por manter desativado o bloqueio baseado apenas nesse acumulado, para limitar a consequência de sinais heurísticos repetidos. Cada evidência expira individualmente. Sinais do destinatário e da GNN não viram suspeita própria do pagador. Isso evita que uma relação, por si só, contamine sua avaliação e que a própria restrição gere suspeita indefinidamente. A decisão deve acompanhar a evidência atribuível à conta.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docs/account-untrust.md</a:t>
            </a:r>
          </a:p>
          <a:p xmlns:a="http://schemas.openxmlformats.org/drawingml/2006/main">
            <a:r>
              <a:t>docs/politicas-negocio.md</a:t>
            </a:r>
          </a:p>
          <a:p xmlns:a="http://schemas.openxmlformats.org/drawingml/2006/main">
            <a:r>
              <a:t>config/risk-policy.json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operação pode parecer normal isoladamente e fazer parte de uma sequência relacional que merece investigação. Essa é a razão de incluir a GNN: acrescentar a visão da rede de transações, incluindo direção e tempo, para investigar padrões como recebimentos seguidos de repasses rápidos. Ela já participa das decisões do protótipo. Se as demais camadas aprovarem e houver avaliação completa com score relacional a partir de 75,0977, pode exigir 2FA. Escolhemos limitar sua intervenção à confirmação adicional porque o modelo usa dados sintéticos e ainda existe incerteza sobre intenções legítimas parecidas. A GNN não rejeita sozinha, não relaxa restrições anteriores e não soma pontos ao risk score. Modelo, política e corte precisam corresponder aos artefatos avaliados. O sinal relacional pede verificação, sem afirmar fraude.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docs/gnn-contribution.md</a:t>
            </a:r>
          </a:p>
          <a:p xmlns:a="http://schemas.openxmlformats.org/drawingml/2006/main">
            <a:r>
              <a:t>docs/graph-v2-api.md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política pode aumentar alertas e também interromper mais pagamentos legítimos. Por isso avaliamos ganho e fricção em conjunto. Com apoio de IA, construímos casos positivos, negativos e combinações das regras, incluindo situações pensadas como falsos positivos. A documentação registra 691 testes aprovados com a GNN contribuindo. Eles verificam o comportamento esperado, sem estimar a taxa de fraude real. Para a GNN, a meta inicial era menos de 10% de falsos positivos. Adotamos depois um critério mais rigoroso: limite superior nominal de 95% de até 1% para desafios adicionais em legítimos aprováveis, além de ganho nos positivos. No teste sintético com 1.800 cenários, cada candidato da calibração conservadora gerou zero desafios indevidos entre 1.064 legítimos aprováveis. A equipe habilitou 2FA no protótipo. Ampliar a intervenção exige resultados confirmados e acompanhamento de falsos positivos.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docs/gnn-contribution.md</a:t>
            </a:r>
          </a:p>
          <a:p xmlns:a="http://schemas.openxmlformats.org/drawingml/2006/main">
            <a:r>
              <a:t>docs/testes-politicas.md</a:t>
            </a:r>
          </a:p>
          <a:p xmlns:a="http://schemas.openxmlformats.org/drawingml/2006/main">
            <a:r>
              <a:t>models/false-positive-v1/conservative/evaluation.metrics.json</a:t>
            </a:r>
          </a:p>
          <a:p xmlns:a="http://schemas.openxmlformats.org/drawingml/2006/main">
            <a:r>
              <a:t>Relato da equipe: apoio de IA e meta inicial de falsos positivos abaixo de 10%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180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Reservar três minutos para perguntas sem exibir a duração. Por que 2FA? Para tratar incerteza com uma intervenção intermediária. O cliente negocia limites na hora? Não. A flexibilização segue critérios prévios definidos pelo operador. O histórico pode apagar qualquer risco? Não. Pode atenuar somente o desvio de valor nas condições da confiança contextual. A GNN já atua? Sim, pode elevar aprovação para 2FA, sem rejeição própria. Os números provam eficácia real? Não, os resultados de avaliação são sintéticos. O motor solicita 2FA, mas não confirma autenticação nem liquidação.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docs/politicas-negocio.md</a:t>
            </a:r>
          </a:p>
          <a:p xmlns:a="http://schemas.openxmlformats.org/drawingml/2006/main">
            <a:r>
              <a:t>docs/gnn-contribution.md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e6dc8fa5d4f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b87f3609546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ff5741a3d42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03ca802da48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64ad9959e49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2c96272d9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7CA891-BDD5-4DCB-BB56-DF334894B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8F8528-54A8-4BA2-91E3-93D6966EDC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61BC3A-0265-4238-AC56-3C79579C5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C2D6D7-CC55-4EEA-A866-46608B109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DD9289-7E7B-4331-93B6-326C60454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D3D03F-6540-48F7-AF9B-5F6D97125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F97E70-ED85-4831-92C0-ED7ECD9A92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D0932E-793D-4971-A192-820F4DA63D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2A2132-BEAE-42C7-A6B9-F13D0F940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ABEDE7-7F0F-46FB-82E9-900C66C0C0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a0551894543dc" /><Relationship Type="http://schemas.openxmlformats.org/officeDocument/2006/relationships/slideLayout" Target="/ppt/slideLayouts/slideLayout1.xml" Id="R04d4fc233c1e4fc0" /><Relationship Type="http://schemas.openxmlformats.org/officeDocument/2006/relationships/slideLayout" Target="/ppt/slideLayouts/slideLayout2.xml" Id="R8b78e81c38494660" /><Relationship Type="http://schemas.openxmlformats.org/officeDocument/2006/relationships/slideLayout" Target="/ppt/slideLayouts/slideLayout3.xml" Id="Rcd1edb2d502f4f96" /><Relationship Type="http://schemas.openxmlformats.org/officeDocument/2006/relationships/slideLayout" Target="/ppt/slideLayouts/slideLayout4.xml" Id="R87539ddb196546da" /><Relationship Type="http://schemas.openxmlformats.org/officeDocument/2006/relationships/slideLayout" Target="/ppt/slideLayouts/slideLayout5.xml" Id="R22c5ea495b1f4484" /><Relationship Type="http://schemas.openxmlformats.org/officeDocument/2006/relationships/slideLayout" Target="/ppt/slideLayouts/slideLayout6.xml" Id="R8a568c6a2f41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4fc233c1e4fc0"/>
    <p:sldLayoutId xmlns:r="http://schemas.openxmlformats.org/officeDocument/2006/relationships" id="2147483650" r:id="R8b78e81c38494660"/>
    <p:sldLayoutId xmlns:r="http://schemas.openxmlformats.org/officeDocument/2006/relationships" id="2147483651" r:id="Rcd1edb2d502f4f96"/>
    <p:sldLayoutId xmlns:r="http://schemas.openxmlformats.org/officeDocument/2006/relationships" id="2147483652" r:id="R87539ddb196546da"/>
    <p:sldLayoutId xmlns:r="http://schemas.openxmlformats.org/officeDocument/2006/relationships" id="2147483653" r:id="R22c5ea495b1f4484"/>
    <p:sldLayoutId xmlns:r="http://schemas.openxmlformats.org/officeDocument/2006/relationships" id="2147483654" r:id="R8a568c6a2f41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5abaedca04aa7" /><Relationship Type="http://schemas.openxmlformats.org/officeDocument/2006/relationships/notesSlide" Target="/ppt/notesSlides/notesSlide1.xml" Id="R5ca4ba82a2c440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bff6a60d948e4" /><Relationship Type="http://schemas.openxmlformats.org/officeDocument/2006/relationships/notesSlide" Target="/ppt/notesSlides/notesSlide2.xml" Id="R06c9fe77da684a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23ef338614065" /><Relationship Type="http://schemas.openxmlformats.org/officeDocument/2006/relationships/notesSlide" Target="/ppt/notesSlides/notesSlide3.xml" Id="R167f10fe3ce5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cf21e4a244680" /><Relationship Type="http://schemas.openxmlformats.org/officeDocument/2006/relationships/notesSlide" Target="/ppt/notesSlides/notesSlide4.xml" Id="R7a119a3ca3064a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26cdfb4f84123" /><Relationship Type="http://schemas.openxmlformats.org/officeDocument/2006/relationships/notesSlide" Target="/ppt/notesSlides/notesSlide5.xml" Id="R4c32561f0c94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07d0ddd124f40" /><Relationship Type="http://schemas.openxmlformats.org/officeDocument/2006/relationships/notesSlide" Target="/ppt/notesSlides/notesSlide6.xml" Id="R3bc01d197a5b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8f74bfcc148b9" /><Relationship Type="http://schemas.openxmlformats.org/officeDocument/2006/relationships/notesSlide" Target="/ppt/notesSlides/notesSlide7.xml" Id="R8a9325664fb840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29d5ffdc34384" /><Relationship Type="http://schemas.openxmlformats.org/officeDocument/2006/relationships/notesSlide" Target="/ppt/notesSlides/notesSlide8.xml" Id="R982ba6a6d4974d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0e746a29b4016" /><Relationship Type="http://schemas.openxmlformats.org/officeDocument/2006/relationships/notesSlide" Target="/ppt/notesSlides/notesSlide9.xml" Id="R4711d210a53a48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rganização para facilitar a evolução">
            <a:extLst xmlns:a="http://schemas.openxmlformats.org/drawingml/2006/main">
              <a:ext uri="{FF2B5EF4-FFF2-40B4-BE49-F238E27FC236}">
                <a16:creationId xmlns:a16="http://schemas.microsoft.com/office/drawing/2014/main" id="{1F4D4E19-3EE3-4F67-9684-7B27735D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Organização para facilitar a evolução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B42663F6-67A4-4846-8068-840BF538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Escolhemos uma estrutura parecida com a do primeiro desafio por seguir">
            <a:extLst xmlns:a="http://schemas.openxmlformats.org/drawingml/2006/main">
              <a:ext uri="{FF2B5EF4-FFF2-40B4-BE49-F238E27FC236}">
                <a16:creationId xmlns:a16="http://schemas.microsoft.com/office/drawing/2014/main" id="{5F019426-D372-4A2C-BF4A-D6CBCF8F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38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Escolhemos uma estrutura parecida com a do primeiro desafio por seguir boas práticas de organização e facilitar a manutenção do código.</a:t>
            </a:r>
          </a:p>
        </p:txBody>
      </p:sp>
      <p:sp>
        <p:nvSpPr>
          <p:cNvPr id="4" name="Clareza para revisar regras e justificar decisões">
            <a:extLst xmlns:a="http://schemas.openxmlformats.org/drawingml/2006/main">
              <a:ext uri="{FF2B5EF4-FFF2-40B4-BE49-F238E27FC236}">
                <a16:creationId xmlns:a16="http://schemas.microsoft.com/office/drawing/2014/main" id="{9DACD1C0-42CF-4C4C-AEE2-F6CE9C04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Clareza para revisar regras e justificar decisões</a:t>
            </a:r>
          </a:p>
        </p:txBody>
      </p:sp>
      <p:sp>
        <p:nvSpPr>
          <p:cNvPr id="5" name="Vinícius Guimarães Drexler e Wallace Dametto Teixeira">
            <a:extLst xmlns:a="http://schemas.openxmlformats.org/drawingml/2006/main">
              <a:ext uri="{FF2B5EF4-FFF2-40B4-BE49-F238E27FC236}">
                <a16:creationId xmlns:a16="http://schemas.microsoft.com/office/drawing/2014/main" id="{8270BB4E-8E38-4C43-A7CE-819FC319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Vinícius Guimarães Drexler e Wallace Dametto Teixeira</a:t>
            </a:r>
          </a:p>
        </p:txBody>
      </p:sp>
    </p:spTree>
    <p:extLst>
      <p:ext uri="{BB962C8B-B14F-4D97-AF65-F5344CB8AC3E}">
        <p14:creationId xmlns:p14="http://schemas.microsoft.com/office/powerpoint/2010/main" val="1854139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teção com o menor atrito necessário">
            <a:extLst xmlns:a="http://schemas.openxmlformats.org/drawingml/2006/main">
              <a:ext uri="{FF2B5EF4-FFF2-40B4-BE49-F238E27FC236}">
                <a16:creationId xmlns:a16="http://schemas.microsoft.com/office/drawing/2014/main" id="{89CBBFC4-32D0-4D02-84D7-6A89073F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Proteção com o menor atrito necessário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AF8C0B94-6FB1-4403-BDD9-BD081070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duzir o risco de fraude e preservar&#10;pagamentos legítimos">
            <a:extLst xmlns:a="http://schemas.openxmlformats.org/drawingml/2006/main">
              <a:ext uri="{FF2B5EF4-FFF2-40B4-BE49-F238E27FC236}">
                <a16:creationId xmlns:a16="http://schemas.microsoft.com/office/drawing/2014/main" id="{E1C0F312-88C0-4D03-B30C-058D9F25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Reduzir o risco de fraude e preservar</a:t>
            </a:r>
          </a:p>
          <a:p xmlns:a="http://schemas.openxmlformats.org/drawingml/2006/main">
            <a:pPr>
              <a:defRPr sz="36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pagamentos legítimos</a:t>
            </a:r>
          </a:p>
        </p:txBody>
      </p:sp>
      <p:sp>
        <p:nvSpPr>
          <p:cNvPr id="4" name="Novidade pode ser legítima.&#10;O contexto determina quanto ela deve pesar">
            <a:extLst xmlns:a="http://schemas.openxmlformats.org/drawingml/2006/main">
              <a:ext uri="{FF2B5EF4-FFF2-40B4-BE49-F238E27FC236}">
                <a16:creationId xmlns:a16="http://schemas.microsoft.com/office/drawing/2014/main" id="{47828506-4CC8-472B-A680-1BCC236F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Novidade pode ser legítima.</a:t>
            </a:r>
          </a:p>
          <a:p xmlns:a="http://schemas.openxmlformats.org/drawingml/2006/main">
            <a:pPr>
              <a:defRPr sz="25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O contexto determina quanto ela deve pesar.</a:t>
            </a:r>
          </a:p>
        </p:txBody>
      </p:sp>
      <p:sp>
        <p:nvSpPr>
          <p:cNvPr id="5" name="13 regras combinam comportamento, valor e contexto.&#10;A resposta acompan">
            <a:extLst xmlns:a="http://schemas.openxmlformats.org/drawingml/2006/main">
              <a:ext uri="{FF2B5EF4-FFF2-40B4-BE49-F238E27FC236}">
                <a16:creationId xmlns:a16="http://schemas.microsoft.com/office/drawing/2014/main" id="{6F370A39-885D-4BCD-889E-D2A37BE8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13 regras combinam comportamento, valor e contexto.</a:t>
            </a:r>
          </a:p>
          <a:p xmlns:a="http://schemas.openxmlformats.org/drawingml/2006/main">
            <a:pPr>
              <a:defRPr sz="21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 resposta acompanha a força da evidência.</a:t>
            </a:r>
          </a:p>
        </p:txBody>
      </p:sp>
    </p:spTree>
    <p:extLst>
      <p:ext uri="{BB962C8B-B14F-4D97-AF65-F5344CB8AC3E}">
        <p14:creationId xmlns:p14="http://schemas.microsoft.com/office/powerpoint/2010/main" val="699887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rovar, confirmar ou rejeitar">
            <a:extLst xmlns:a="http://schemas.openxmlformats.org/drawingml/2006/main">
              <a:ext uri="{FF2B5EF4-FFF2-40B4-BE49-F238E27FC236}">
                <a16:creationId xmlns:a16="http://schemas.microsoft.com/office/drawing/2014/main" id="{2AED98C3-6AB7-43EA-8DE1-354E51BE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Aprovar, confirmar ou rejeitar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6E766DC6-30B4-4C26-B918-39BFC9C0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Aprovar">
            <a:extLst xmlns:a="http://schemas.openxmlformats.org/drawingml/2006/main">
              <a:ext uri="{FF2B5EF4-FFF2-40B4-BE49-F238E27FC236}">
                <a16:creationId xmlns:a16="http://schemas.microsoft.com/office/drawing/2014/main" id="{0D8EB2A3-C7AD-4685-A690-43D1231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Aprovar</a:t>
            </a:r>
          </a:p>
        </p:txBody>
      </p:sp>
      <p:sp>
        <p:nvSpPr>
          <p:cNvPr id="4" name="Preservar a fluidez">
            <a:extLst xmlns:a="http://schemas.openxmlformats.org/drawingml/2006/main">
              <a:ext uri="{FF2B5EF4-FFF2-40B4-BE49-F238E27FC236}">
                <a16:creationId xmlns:a16="http://schemas.microsoft.com/office/drawing/2014/main" id="{2E99C623-EF07-402F-942E-CA33D940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Preservar a fluidez</a:t>
            </a:r>
          </a:p>
        </p:txBody>
      </p:sp>
      <p:sp>
        <p:nvSpPr>
          <p:cNvPr id="5" name="Quando as evidências&#10;não exigem intervenção.">
            <a:extLst xmlns:a="http://schemas.openxmlformats.org/drawingml/2006/main">
              <a:ext uri="{FF2B5EF4-FFF2-40B4-BE49-F238E27FC236}">
                <a16:creationId xmlns:a16="http://schemas.microsoft.com/office/drawing/2014/main" id="{7E1DBEC6-4E49-4714-BF44-BD8043FB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Quando as evidências</a:t>
            </a:r>
          </a:p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não exigem intervenção.</a:t>
            </a:r>
          </a:p>
        </p:txBody>
      </p:sp>
      <p:sp>
        <p:nvSpPr>
          <p:cNvPr id="6" name="Solicitar 2FA">
            <a:extLst xmlns:a="http://schemas.openxmlformats.org/drawingml/2006/main">
              <a:ext uri="{FF2B5EF4-FFF2-40B4-BE49-F238E27FC236}">
                <a16:creationId xmlns:a16="http://schemas.microsoft.com/office/drawing/2014/main" id="{4B6E5666-A273-43E5-AA30-8A42BA8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05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Solicitar 2FA</a:t>
            </a:r>
          </a:p>
        </p:txBody>
      </p:sp>
      <p:sp>
        <p:nvSpPr>
          <p:cNvPr id="7" name="Tratar a incerteza">
            <a:extLst xmlns:a="http://schemas.openxmlformats.org/drawingml/2006/main">
              <a:ext uri="{FF2B5EF4-FFF2-40B4-BE49-F238E27FC236}">
                <a16:creationId xmlns:a16="http://schemas.microsoft.com/office/drawing/2014/main" id="{E972A898-616F-42F6-B12F-677B214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71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Tratar a incerteza</a:t>
            </a:r>
          </a:p>
        </p:txBody>
      </p:sp>
      <p:sp>
        <p:nvSpPr>
          <p:cNvPr id="8" name="Quando o risco justifica&#10;confirmação adicional.">
            <a:extLst xmlns:a="http://schemas.openxmlformats.org/drawingml/2006/main">
              <a:ext uri="{FF2B5EF4-FFF2-40B4-BE49-F238E27FC236}">
                <a16:creationId xmlns:a16="http://schemas.microsoft.com/office/drawing/2014/main" id="{A5FEDF27-DF2D-4E2D-95E3-059B5B99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672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Quando o risco justifica</a:t>
            </a:r>
          </a:p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confirmação adicional.</a:t>
            </a:r>
          </a:p>
        </p:txBody>
      </p:sp>
      <p:sp>
        <p:nvSpPr>
          <p:cNvPr id="9" name="Rejeitar">
            <a:extLst xmlns:a="http://schemas.openxmlformats.org/drawingml/2006/main">
              <a:ext uri="{FF2B5EF4-FFF2-40B4-BE49-F238E27FC236}">
                <a16:creationId xmlns:a16="http://schemas.microsoft.com/office/drawing/2014/main" id="{FFAA7D5B-6B7D-4D5D-8BC4-E27B77E6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05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Rejeitar</a:t>
            </a:r>
          </a:p>
        </p:txBody>
      </p:sp>
      <p:sp>
        <p:nvSpPr>
          <p:cNvPr id="10" name="Conter risco elevado">
            <a:extLst xmlns:a="http://schemas.openxmlformats.org/drawingml/2006/main">
              <a:ext uri="{FF2B5EF4-FFF2-40B4-BE49-F238E27FC236}">
                <a16:creationId xmlns:a16="http://schemas.microsoft.com/office/drawing/2014/main" id="{2C14886C-602B-48A2-B4F3-C5FF91B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71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Conter risco elevado</a:t>
            </a:r>
          </a:p>
        </p:txBody>
      </p:sp>
      <p:sp>
        <p:nvSpPr>
          <p:cNvPr id="11" name="Quando há limite forte&#10;ou fatores combinados.">
            <a:extLst xmlns:a="http://schemas.openxmlformats.org/drawingml/2006/main">
              <a:ext uri="{FF2B5EF4-FFF2-40B4-BE49-F238E27FC236}">
                <a16:creationId xmlns:a16="http://schemas.microsoft.com/office/drawing/2014/main" id="{370F43C1-3D83-4E87-ACC5-7B883AD5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Quando há limite forte</a:t>
            </a:r>
          </a:p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ou fatores combinados.</a:t>
            </a:r>
          </a:p>
        </p:txBody>
      </p:sp>
      <p:sp>
        <p:nvSpPr>
          <p:cNvPr id="12" name="Score ≥ 30: 2FA. Score ≥ 80 e ao menos dois fatores: rejeição.&#10;Limites">
            <a:extLst xmlns:a="http://schemas.openxmlformats.org/drawingml/2006/main">
              <a:ext uri="{FF2B5EF4-FFF2-40B4-BE49-F238E27FC236}">
                <a16:creationId xmlns:a16="http://schemas.microsoft.com/office/drawing/2014/main" id="{351173D9-BCDF-4817-A825-AD2EDD1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Score ≥ 30: 2FA. Score ≥ 80 e ao menos dois fatores: rejeição.</a:t>
            </a:r>
          </a:p>
          <a:p xmlns:a="http://schemas.openxmlformats.org/drawingml/2006/main">
            <a:pPr>
              <a:defRPr sz="17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Limites fortes têm prioridade. Histórico e GNN podem exigir 2FA adicional.</a:t>
            </a:r>
          </a:p>
        </p:txBody>
      </p:sp>
    </p:spTree>
    <p:extLst>
      <p:ext uri="{BB962C8B-B14F-4D97-AF65-F5344CB8AC3E}">
        <p14:creationId xmlns:p14="http://schemas.microsoft.com/office/powerpoint/2010/main" val="101154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or que combinar sinais no risk score">
            <a:extLst xmlns:a="http://schemas.openxmlformats.org/drawingml/2006/main">
              <a:ext uri="{FF2B5EF4-FFF2-40B4-BE49-F238E27FC236}">
                <a16:creationId xmlns:a16="http://schemas.microsoft.com/office/drawing/2014/main" id="{22F3D55C-412F-454F-8DCD-82C4E26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Por que combinar sinais no risk score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F616F224-DF8F-4060-9F6C-73537D61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Um sinal isolado pode ter uma explicação legítima">
            <a:extLst xmlns:a="http://schemas.openxmlformats.org/drawingml/2006/main">
              <a:ext uri="{FF2B5EF4-FFF2-40B4-BE49-F238E27FC236}">
                <a16:creationId xmlns:a16="http://schemas.microsoft.com/office/drawing/2014/main" id="{961DA681-721E-4141-AA37-E6B3B46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Um sinal isolado pode ter uma explicação legítima</a:t>
            </a:r>
          </a:p>
        </p:txBody>
      </p:sp>
      <p:sp>
        <p:nvSpPr>
          <p:cNvPr id="4" name="Aparelho novo">
            <a:extLst xmlns:a="http://schemas.openxmlformats.org/drawingml/2006/main">
              <a:ext uri="{FF2B5EF4-FFF2-40B4-BE49-F238E27FC236}">
                <a16:creationId xmlns:a16="http://schemas.microsoft.com/office/drawing/2014/main" id="{A242A233-48DC-4780-B571-66FCA9A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novo</a:t>
            </a:r>
          </a:p>
        </p:txBody>
      </p:sp>
      <p:sp>
        <p:nvSpPr>
          <p:cNvPr id="5" name="Aparelho + destino novos">
            <a:extLst xmlns:a="http://schemas.openxmlformats.org/drawingml/2006/main">
              <a:ext uri="{FF2B5EF4-FFF2-40B4-BE49-F238E27FC236}">
                <a16:creationId xmlns:a16="http://schemas.microsoft.com/office/drawing/2014/main" id="{8858E53D-FB12-40BB-9B09-1B869DEF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Aparelho + destino novos</a:t>
            </a:r>
          </a:p>
        </p:txBody>
      </p:sp>
      <p:sp>
        <p:nvSpPr>
          <p:cNvPr id="6" name="20 pontos&#10;Pode permanecer aprovado*">
            <a:extLst xmlns:a="http://schemas.openxmlformats.org/drawingml/2006/main">
              <a:ext uri="{FF2B5EF4-FFF2-40B4-BE49-F238E27FC236}">
                <a16:creationId xmlns:a16="http://schemas.microsoft.com/office/drawing/2014/main" id="{E61618F8-869B-43AC-9D12-3ECE780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20 pontos</a:t>
            </a:r>
          </a:p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Pode permanecer aprovado*</a:t>
            </a:r>
          </a:p>
        </p:txBody>
      </p:sp>
      <p:sp>
        <p:nvSpPr>
          <p:cNvPr id="7" name="35 pontos&#10;Exige confirmação adicional">
            <a:extLst xmlns:a="http://schemas.openxmlformats.org/drawingml/2006/main">
              <a:ext uri="{FF2B5EF4-FFF2-40B4-BE49-F238E27FC236}">
                <a16:creationId xmlns:a16="http://schemas.microsoft.com/office/drawing/2014/main" id="{4631EB74-7FA0-4A2A-8698-5BCD1E6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5124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35 pontos</a:t>
            </a:r>
          </a:p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Exige confirmação adicional</a:t>
            </a:r>
          </a:p>
        </p:txBody>
      </p:sp>
      <p:sp>
        <p:nvSpPr>
          <p:cNvPr id="8" name="Tetos por fator reduzem a contagem repetida de sinais parecidos.">
            <a:extLst xmlns:a="http://schemas.openxmlformats.org/drawingml/2006/main">
              <a:ext uri="{FF2B5EF4-FFF2-40B4-BE49-F238E27FC236}">
                <a16:creationId xmlns:a16="http://schemas.microsoft.com/office/drawing/2014/main" id="{AA163F51-DD30-4596-9FC3-ECE144F1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Tetos por fator reduzem a contagem repetida de sinais parecidos.</a:t>
            </a:r>
          </a:p>
        </p:txBody>
      </p:sp>
      <p:sp>
        <p:nvSpPr>
          <p:cNvPr id="9" name="* Sem outras restrições, com valor e histórico elegíveis. Score não é ">
            <a:extLst xmlns:a="http://schemas.openxmlformats.org/drawingml/2006/main">
              <a:ext uri="{FF2B5EF4-FFF2-40B4-BE49-F238E27FC236}">
                <a16:creationId xmlns:a16="http://schemas.microsoft.com/office/drawing/2014/main" id="{3A3F1317-14E6-4280-BC40-A3CC1E67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* Sem outras restrições, com valor e histórico elegíveis. Score não é probabilidade.</a:t>
            </a:r>
          </a:p>
        </p:txBody>
      </p:sp>
    </p:spTree>
    <p:extLst>
      <p:ext uri="{BB962C8B-B14F-4D97-AF65-F5344CB8AC3E}">
        <p14:creationId xmlns:p14="http://schemas.microsoft.com/office/powerpoint/2010/main" val="714731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uando o histórico permite flexibilizar">
            <a:extLst xmlns:a="http://schemas.openxmlformats.org/drawingml/2006/main">
              <a:ext uri="{FF2B5EF4-FFF2-40B4-BE49-F238E27FC236}">
                <a16:creationId xmlns:a16="http://schemas.microsoft.com/office/drawing/2014/main" id="{8FDCA3B4-6C55-49F2-A9D4-CA54DEA3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Quando o histórico permite flexibilizar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B18AFDD4-C4B3-4A46-9EDC-9343398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Um pagamento alto pode ser habitual&#10;naquela relação">
            <a:extLst xmlns:a="http://schemas.openxmlformats.org/drawingml/2006/main">
              <a:ext uri="{FF2B5EF4-FFF2-40B4-BE49-F238E27FC236}">
                <a16:creationId xmlns:a16="http://schemas.microsoft.com/office/drawing/2014/main" id="{E4BE81CF-1765-4117-BEF7-576048E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Um pagamento alto pode ser habitual</a:t>
            </a:r>
          </a:p>
          <a:p xmlns:a="http://schemas.openxmlformats.org/drawingml/2006/main">
            <a: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naquela relação</a:t>
            </a:r>
          </a:p>
        </p:txBody>
      </p:sp>
      <p:sp>
        <p:nvSpPr>
          <p:cNvPr id="4" name="Condição">
            <a:extLst xmlns:a="http://schemas.openxmlformats.org/drawingml/2006/main">
              <a:ext uri="{FF2B5EF4-FFF2-40B4-BE49-F238E27FC236}">
                <a16:creationId xmlns:a16="http://schemas.microsoft.com/office/drawing/2014/main" id="{EBC9DA0E-3A42-45B2-98CB-C7AF4BFC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9636B"/>
                </a:solidFill>
                <a:latin typeface="Arial"/>
                <a:ea typeface="Arial"/>
                <a:cs typeface="Arial"/>
              </a:rPr>
              <a:t>Condição</a:t>
            </a:r>
          </a:p>
        </p:txBody>
      </p:sp>
      <p:sp>
        <p:nvSpPr>
          <p:cNvPr id="5" name="Histórico suficiente e valor compatível&#10;com o padrão daquele destinatá">
            <a:extLst xmlns:a="http://schemas.openxmlformats.org/drawingml/2006/main">
              <a:ext uri="{FF2B5EF4-FFF2-40B4-BE49-F238E27FC236}">
                <a16:creationId xmlns:a16="http://schemas.microsoft.com/office/drawing/2014/main" id="{E93D3CCF-E843-46CF-9771-557C6F96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8172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Histórico suficiente e valor compatível</a:t>
            </a:r>
          </a:p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com o padrão daquele destinatário.</a:t>
            </a:r>
          </a:p>
        </p:txBody>
      </p:sp>
      <p:sp>
        <p:nvSpPr>
          <p:cNvPr id="6" name="Flexibilização">
            <a:extLst xmlns:a="http://schemas.openxmlformats.org/drawingml/2006/main">
              <a:ext uri="{FF2B5EF4-FFF2-40B4-BE49-F238E27FC236}">
                <a16:creationId xmlns:a16="http://schemas.microsoft.com/office/drawing/2014/main" id="{7F1F327C-00AD-4EE5-9BB0-9EE13882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9636B"/>
                </a:solidFill>
                <a:latin typeface="Arial"/>
                <a:ea typeface="Arial"/>
                <a:cs typeface="Arial"/>
              </a:rPr>
              <a:t>Flexibilização</a:t>
            </a:r>
          </a:p>
        </p:txBody>
      </p:sp>
      <p:sp>
        <p:nvSpPr>
          <p:cNvPr id="7" name="Retirar somente o desvio de valor.&#10;Os demais controles continuam ativo">
            <a:extLst xmlns:a="http://schemas.openxmlformats.org/drawingml/2006/main">
              <a:ext uri="{FF2B5EF4-FFF2-40B4-BE49-F238E27FC236}">
                <a16:creationId xmlns:a16="http://schemas.microsoft.com/office/drawing/2014/main" id="{04E2CCCE-9EC1-49DA-9A4F-C57640C3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8172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Retirar somente o desvio de valor.</a:t>
            </a:r>
          </a:p>
          <a:p xmlns:a="http://schemas.openxmlformats.org/drawingml/2006/main">
            <a:pPr>
              <a:defRPr sz="240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Os demais controles continuam ativos.</a:t>
            </a:r>
          </a:p>
        </p:txBody>
      </p:sp>
      <p:sp>
        <p:nvSpPr>
          <p:cNvPr id="8" name="A exceção exige evidência e mantém o alcance limitado.">
            <a:extLst xmlns:a="http://schemas.openxmlformats.org/drawingml/2006/main">
              <a:ext uri="{FF2B5EF4-FFF2-40B4-BE49-F238E27FC236}">
                <a16:creationId xmlns:a16="http://schemas.microsoft.com/office/drawing/2014/main" id="{37E3E2E5-ABB5-4F73-AD84-B4A31313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E80"/>
                </a:solidFill>
                <a:latin typeface="Arial"/>
                <a:ea typeface="Arial"/>
                <a:cs typeface="Arial"/>
              </a:rPr>
              <a:t>A exceção exige evidência e mantém o alcance limitado.</a:t>
            </a:r>
          </a:p>
        </p:txBody>
      </p:sp>
    </p:spTree>
    <p:extLst>
      <p:ext uri="{BB962C8B-B14F-4D97-AF65-F5344CB8AC3E}">
        <p14:creationId xmlns:p14="http://schemas.microsoft.com/office/powerpoint/2010/main" val="235150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uando manter a restrição">
            <a:extLst xmlns:a="http://schemas.openxmlformats.org/drawingml/2006/main">
              <a:ext uri="{FF2B5EF4-FFF2-40B4-BE49-F238E27FC236}">
                <a16:creationId xmlns:a16="http://schemas.microsoft.com/office/drawing/2014/main" id="{2320B5DA-E5CA-4303-8311-DF8CEA79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Quando manter a restrição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9527FE4C-8F11-4ECA-BFA4-8017F401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Familiaridade não elimina risco">
            <a:extLst xmlns:a="http://schemas.openxmlformats.org/drawingml/2006/main">
              <a:ext uri="{FF2B5EF4-FFF2-40B4-BE49-F238E27FC236}">
                <a16:creationId xmlns:a16="http://schemas.microsoft.com/office/drawing/2014/main" id="{CA0B823F-049C-4FDD-9F37-E65E901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Familiaridade não elimina risco</a:t>
            </a:r>
          </a:p>
        </p:txBody>
      </p:sp>
      <p:sp>
        <p:nvSpPr>
          <p:cNvPr id="4" name="Limites fortes">
            <a:extLst xmlns:a="http://schemas.openxmlformats.org/drawingml/2006/main">
              <a:ext uri="{FF2B5EF4-FFF2-40B4-BE49-F238E27FC236}">
                <a16:creationId xmlns:a16="http://schemas.microsoft.com/office/drawing/2014/main" id="{563A61F4-D8EE-4E28-9063-27290EE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Limites fortes</a:t>
            </a:r>
          </a:p>
        </p:txBody>
      </p:sp>
      <p:sp>
        <p:nvSpPr>
          <p:cNvPr id="5" name="Contêm frequência e montante excessivos,&#10;mesmo em relações conhecidas.">
            <a:extLst xmlns:a="http://schemas.openxmlformats.org/drawingml/2006/main">
              <a:ext uri="{FF2B5EF4-FFF2-40B4-BE49-F238E27FC236}">
                <a16:creationId xmlns:a16="http://schemas.microsoft.com/office/drawing/2014/main" id="{82B23A7B-6E84-4DDD-90CD-C1DD6A13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57525"/>
            <a:ext cx="7143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Contêm frequência e montante excessivos,</a:t>
            </a:r>
          </a:p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mesmo em relações conhecidas.</a:t>
            </a:r>
          </a:p>
        </p:txBody>
      </p:sp>
      <p:sp>
        <p:nvSpPr>
          <p:cNvPr id="6" name="Repetição de risco">
            <a:extLst xmlns:a="http://schemas.openxmlformats.org/drawingml/2006/main">
              <a:ext uri="{FF2B5EF4-FFF2-40B4-BE49-F238E27FC236}">
                <a16:creationId xmlns:a16="http://schemas.microsoft.com/office/drawing/2014/main" id="{6267BD9E-2949-47A9-A0FA-0B22ED5D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Repetição de risco</a:t>
            </a:r>
          </a:p>
        </p:txBody>
      </p:sp>
      <p:sp>
        <p:nvSpPr>
          <p:cNvPr id="7" name="Evidências próprias em 24h podem exigir&#10;2FA e indicar aviso ao banco.">
            <a:extLst xmlns:a="http://schemas.openxmlformats.org/drawingml/2006/main">
              <a:ext uri="{FF2B5EF4-FFF2-40B4-BE49-F238E27FC236}">
                <a16:creationId xmlns:a16="http://schemas.microsoft.com/office/drawing/2014/main" id="{8DC58F93-8070-47EF-A7AA-6B2153CA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7143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Evidências próprias em 24h podem exigir</a:t>
            </a:r>
          </a:p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2FA e indicar aviso ao banco.</a:t>
            </a:r>
          </a:p>
        </p:txBody>
      </p:sp>
      <p:sp>
        <p:nvSpPr>
          <p:cNvPr id="8" name="O bloqueio só pelo acumulado fica desativado.&#10;A suspeita de um contato">
            <a:extLst xmlns:a="http://schemas.openxmlformats.org/drawingml/2006/main">
              <a:ext uri="{FF2B5EF4-FFF2-40B4-BE49-F238E27FC236}">
                <a16:creationId xmlns:a16="http://schemas.microsoft.com/office/drawing/2014/main" id="{6E0DC3C2-112D-41A6-A4F6-4D07270B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O bloqueio só pelo acumulado fica desativado.</a:t>
            </a:r>
          </a:p>
          <a:p xmlns:a="http://schemas.openxmlformats.org/drawingml/2006/main">
            <a:pPr>
              <a:defRPr sz="18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A suspeita de um contato não se torna suspeita própria do pagador.</a:t>
            </a:r>
          </a:p>
        </p:txBody>
      </p:sp>
    </p:spTree>
    <p:extLst>
      <p:ext uri="{BB962C8B-B14F-4D97-AF65-F5344CB8AC3E}">
        <p14:creationId xmlns:p14="http://schemas.microsoft.com/office/powerpoint/2010/main" val="641569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or que a GNN complementa as regras">
            <a:extLst xmlns:a="http://schemas.openxmlformats.org/drawingml/2006/main">
              <a:ext uri="{FF2B5EF4-FFF2-40B4-BE49-F238E27FC236}">
                <a16:creationId xmlns:a16="http://schemas.microsoft.com/office/drawing/2014/main" id="{82F5C94B-F3F4-413F-B74B-CEFBD5F4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Por que a GNN complementa as regras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F8C3CF8-397D-40F4-91FF-44DF4C3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Uma operação isolada pode esconder&#10;um padrão na rede de transações">
            <a:extLst xmlns:a="http://schemas.openxmlformats.org/drawingml/2006/main">
              <a:ext uri="{FF2B5EF4-FFF2-40B4-BE49-F238E27FC236}">
                <a16:creationId xmlns:a16="http://schemas.microsoft.com/office/drawing/2014/main" id="{BF728849-1926-4B3C-B1A5-9C08DD90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Uma operação isolada pode esconder</a:t>
            </a:r>
          </a:p>
          <a:p xmlns:a="http://schemas.openxmlformats.org/drawingml/2006/main">
            <a:pPr>
              <a:defRPr sz="322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um padrão na rede de transações</a:t>
            </a:r>
          </a:p>
        </p:txBody>
      </p:sp>
      <p:sp>
        <p:nvSpPr>
          <p:cNvPr id="4" name="A GNN acrescenta contexto relacional&#10;e já pode exigir 2FA no protótipo">
            <a:extLst xmlns:a="http://schemas.openxmlformats.org/drawingml/2006/main">
              <a:ext uri="{FF2B5EF4-FFF2-40B4-BE49-F238E27FC236}">
                <a16:creationId xmlns:a16="http://schemas.microsoft.com/office/drawing/2014/main" id="{32E63803-BF7F-4F5A-B1E2-1935C5F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A GNN acrescenta contexto relacional</a:t>
            </a:r>
          </a:p>
          <a:p xmlns:a="http://schemas.openxmlformats.org/drawingml/2006/main">
            <a:pPr>
              <a:defRPr sz="262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e já pode exigir 2FA no protótipo.</a:t>
            </a:r>
          </a:p>
        </p:txBody>
      </p:sp>
      <p:sp>
        <p:nvSpPr>
          <p:cNvPr id="5" name="Ação proporcional à incerteza do modelo">
            <a:extLst xmlns:a="http://schemas.openxmlformats.org/drawingml/2006/main">
              <a:ext uri="{FF2B5EF4-FFF2-40B4-BE49-F238E27FC236}">
                <a16:creationId xmlns:a16="http://schemas.microsoft.com/office/drawing/2014/main" id="{A6F65C6B-5A49-479D-981E-1D58FE87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Ação proporcional à incerteza do modelo</a:t>
            </a:r>
          </a:p>
        </p:txBody>
      </p:sp>
      <p:sp>
        <p:nvSpPr>
          <p:cNvPr id="6" name="Confirmação adicional, sem rejeição própria e sem alterar o risk score">
            <a:extLst xmlns:a="http://schemas.openxmlformats.org/drawingml/2006/main">
              <a:ext uri="{FF2B5EF4-FFF2-40B4-BE49-F238E27FC236}">
                <a16:creationId xmlns:a16="http://schemas.microsoft.com/office/drawing/2014/main" id="{40692AC2-5A0C-4B9E-9B10-CC900E5E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Confirmação adicional, sem rejeição própria e sem alterar o risk score.</a:t>
            </a:r>
          </a:p>
        </p:txBody>
      </p:sp>
    </p:spTree>
    <p:extLst>
      <p:ext uri="{BB962C8B-B14F-4D97-AF65-F5344CB8AC3E}">
        <p14:creationId xmlns:p14="http://schemas.microsoft.com/office/powerpoint/2010/main" val="1942754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or que validar antes de ampliar a intervenção">
            <a:extLst xmlns:a="http://schemas.openxmlformats.org/drawingml/2006/main">
              <a:ext uri="{FF2B5EF4-FFF2-40B4-BE49-F238E27FC236}">
                <a16:creationId xmlns:a16="http://schemas.microsoft.com/office/drawing/2014/main" id="{9B5EB66D-9DBF-4EDA-9B4F-98434B25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Por que validar antes de ampliar a intervenção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C46C0C3A-0CED-43D6-AAE6-9C44D746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Mais alertas só ajudam se o custo para&#10;quem paga legitimamente for ace">
            <a:extLst xmlns:a="http://schemas.openxmlformats.org/drawingml/2006/main">
              <a:ext uri="{FF2B5EF4-FFF2-40B4-BE49-F238E27FC236}">
                <a16:creationId xmlns:a16="http://schemas.microsoft.com/office/drawing/2014/main" id="{90874500-AB9F-4D82-8E5D-33184EC6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defPPr>
            <a:lvl1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1pPr>
            <a:lvl2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2pPr>
            <a:lvl3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3pPr>
            <a:lvl4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4pPr>
            <a:lvl5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5pPr>
            <a:lvl6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6pPr>
            <a:lvl7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7pPr>
            <a:lvl8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8pPr>
            <a:lvl9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Mais alertas só ajudam se o custo para</a:t>
            </a:r>
          </a:p>
          <a:p xmlns:a="http://schemas.openxmlformats.org/drawingml/2006/main">
            <a:pPr>
              <a:defRPr sz="3075" b="1">
                <a:solidFill>
                  <a:srgbClr val="087E8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87E80"/>
                </a:solidFill>
                <a:latin typeface="Arial"/>
                <a:ea typeface="Arial"/>
                <a:cs typeface="Arial"/>
              </a:rPr>
              <a:t>quem paga legitimamente for aceitável</a:t>
            </a:r>
          </a:p>
        </p:txBody>
      </p:sp>
      <p:sp>
        <p:nvSpPr>
          <p:cNvPr id="4" name="691">
            <a:extLst xmlns:a="http://schemas.openxmlformats.org/drawingml/2006/main">
              <a:ext uri="{FF2B5EF4-FFF2-40B4-BE49-F238E27FC236}">
                <a16:creationId xmlns:a16="http://schemas.microsoft.com/office/drawing/2014/main" id="{086C154D-0157-49A4-A9E3-7596B88E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691</a:t>
            </a:r>
          </a:p>
        </p:txBody>
      </p:sp>
      <p:sp>
        <p:nvSpPr>
          <p:cNvPr id="5" name="testes aprovados com a GNN ativa">
            <a:extLst xmlns:a="http://schemas.openxmlformats.org/drawingml/2006/main">
              <a:ext uri="{FF2B5EF4-FFF2-40B4-BE49-F238E27FC236}">
                <a16:creationId xmlns:a16="http://schemas.microsoft.com/office/drawing/2014/main" id="{AAF68D89-6F0D-4D82-ABC2-7DA2F547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testes aprovados com a GNN ativa</a:t>
            </a:r>
          </a:p>
        </p:txBody>
      </p:sp>
      <p:sp>
        <p:nvSpPr>
          <p:cNvPr id="6" name="0 em 1.064">
            <a:extLst xmlns:a="http://schemas.openxmlformats.org/drawingml/2006/main">
              <a:ext uri="{FF2B5EF4-FFF2-40B4-BE49-F238E27FC236}">
                <a16:creationId xmlns:a16="http://schemas.microsoft.com/office/drawing/2014/main" id="{78FC056C-349D-4751-9DEA-AEBA8E73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19475"/>
            <a:ext cx="5124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2E36"/>
                </a:solidFill>
                <a:latin typeface="Arial"/>
                <a:ea typeface="Arial"/>
                <a:cs typeface="Arial"/>
              </a:rPr>
              <a:t>0 em 1.064</a:t>
            </a:r>
          </a:p>
        </p:txBody>
      </p:sp>
      <p:sp>
        <p:nvSpPr>
          <p:cNvPr id="7" name="legítimos com 2FA adicional&#10;por candidato no teste sintético">
            <a:extLst xmlns:a="http://schemas.openxmlformats.org/drawingml/2006/main">
              <a:ext uri="{FF2B5EF4-FFF2-40B4-BE49-F238E27FC236}">
                <a16:creationId xmlns:a16="http://schemas.microsoft.com/office/drawing/2014/main" id="{E8B1E9C7-E865-4EF8-90B5-B7EEBB41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legítimos com 2FA adicional</a:t>
            </a:r>
          </a:p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E36"/>
                </a:solidFill>
                <a:latin typeface="Arial"/>
                <a:ea typeface="Arial"/>
                <a:cs typeface="Arial"/>
              </a:rPr>
              <a:t>por candidato no teste sintético</a:t>
            </a:r>
          </a:p>
        </p:txBody>
      </p:sp>
      <p:sp>
        <p:nvSpPr>
          <p:cNvPr id="8" name="Critério da GNN: de meta inicial &lt;10% para teto nominal de 1% na avali">
            <a:extLst xmlns:a="http://schemas.openxmlformats.org/drawingml/2006/main">
              <a:ext uri="{FF2B5EF4-FFF2-40B4-BE49-F238E27FC236}">
                <a16:creationId xmlns:a16="http://schemas.microsoft.com/office/drawing/2014/main" id="{8BD25A76-38B7-49BD-A5B4-0375928D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Critério da GNN: de meta inicial &lt;10% para teto nominal de 1% na avaliação.</a:t>
            </a:r>
          </a:p>
          <a:p xmlns:a="http://schemas.openxmlformats.org/drawingml/2006/main">
            <a:pPr>
              <a:defRPr sz="1650" b="0">
                <a:solidFill>
                  <a:srgbClr val="4963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36B"/>
                </a:solidFill>
                <a:latin typeface="Arial"/>
                <a:ea typeface="Arial"/>
                <a:cs typeface="Arial"/>
              </a:rPr>
              <a:t>Resultado sintético não garante taxa de erro em pagamentos reais.</a:t>
            </a:r>
          </a:p>
        </p:txBody>
      </p:sp>
    </p:spTree>
    <p:extLst>
      <p:ext uri="{BB962C8B-B14F-4D97-AF65-F5344CB8AC3E}">
        <p14:creationId xmlns:p14="http://schemas.microsoft.com/office/powerpoint/2010/main" val="384260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erguntas">
            <a:extLst xmlns:a="http://schemas.openxmlformats.org/drawingml/2006/main">
              <a:ext uri="{FF2B5EF4-FFF2-40B4-BE49-F238E27FC236}">
                <a16:creationId xmlns:a16="http://schemas.microsoft.com/office/drawing/2014/main" id="{3EBC43C1-194C-48EE-A43C-1B0FA199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B9E7DC"/>
                </a:solidFill>
                <a:latin typeface="Arial"/>
                <a:ea typeface="Arial"/>
                <a:cs typeface="Arial"/>
              </a:rPr>
              <a:t>Perguntas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B95B66D-28D1-4EF0-AAC8-2F0A132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388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E7D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Pix Antifraude">
            <a:extLst xmlns:a="http://schemas.openxmlformats.org/drawingml/2006/main">
              <a:ext uri="{FF2B5EF4-FFF2-40B4-BE49-F238E27FC236}">
                <a16:creationId xmlns:a16="http://schemas.microsoft.com/office/drawing/2014/main" id="{BAAEDC35-237B-4672-BBC9-79EEFF22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Pix Antifraude</a:t>
            </a:r>
          </a:p>
        </p:txBody>
      </p:sp>
      <p:sp>
        <p:nvSpPr>
          <p:cNvPr id="4" name="Vinícius Guimarães Drexler e Wallace Dametto Teixeira">
            <a:extLst xmlns:a="http://schemas.openxmlformats.org/drawingml/2006/main">
              <a:ext uri="{FF2B5EF4-FFF2-40B4-BE49-F238E27FC236}">
                <a16:creationId xmlns:a16="http://schemas.microsoft.com/office/drawing/2014/main" id="{DAF12433-A7CB-4113-8D56-C6E2BB1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E7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E7DC"/>
                </a:solidFill>
                <a:latin typeface="Arial"/>
                <a:ea typeface="Arial"/>
                <a:cs typeface="Arial"/>
              </a:rPr>
              <a:t>Vinícius Guimarães Drexler e Wallace Dametto Teixeira</a:t>
            </a:r>
          </a:p>
        </p:txBody>
      </p:sp>
    </p:spTree>
    <p:extLst>
      <p:ext uri="{BB962C8B-B14F-4D97-AF65-F5344CB8AC3E}">
        <p14:creationId xmlns:p14="http://schemas.microsoft.com/office/powerpoint/2010/main" val="74920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2026-10-18T12:40:43.9420000Z</dcterms:created>
  <dcterms:modified xsi:type="dcterms:W3CDTF">2026-10-18T12:40:43.9420000Z</dcterms:modified>
</coreProperties>
</file>