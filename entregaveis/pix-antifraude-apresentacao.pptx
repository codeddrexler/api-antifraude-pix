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4aaa49816f4491" /><Relationship Type="http://schemas.openxmlformats.org/officeDocument/2006/relationships/extended-properties" Target="/docProps/app.xml" Id="R279fb8dad17f409e" /><Relationship Type="http://schemas.openxmlformats.org/officeDocument/2006/relationships/officeDocument" Target="/ppt/presentation.xml" Id="Rdf30aa4e2c474c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d5696209524cbc"/>
  </p:sldMasterIdLst>
  <p:notesMasterIdLst>
    <p:notesMasterId xmlns:r="http://schemas.openxmlformats.org/officeDocument/2006/relationships" r:id="R43d3ea88e3f343ec"/>
  </p:notesMasterIdLst>
  <p:sldIdLst>
    <p:sldId xmlns:r="http://schemas.openxmlformats.org/officeDocument/2006/relationships" id="256" r:id="R1655f6fe8017449f"/>
    <p:sldId xmlns:r="http://schemas.openxmlformats.org/officeDocument/2006/relationships" id="257" r:id="Rf4803baa35d94d35"/>
    <p:sldId xmlns:r="http://schemas.openxmlformats.org/officeDocument/2006/relationships" id="258" r:id="Ra90d4e89381a4daa"/>
    <p:sldId xmlns:r="http://schemas.openxmlformats.org/officeDocument/2006/relationships" id="259" r:id="Rd336940b56e04764"/>
    <p:sldId xmlns:r="http://schemas.openxmlformats.org/officeDocument/2006/relationships" id="260" r:id="Rcdb508ad100d4d7c"/>
    <p:sldId xmlns:r="http://schemas.openxmlformats.org/officeDocument/2006/relationships" id="261" r:id="R0789d719b2f34c90"/>
    <p:sldId xmlns:r="http://schemas.openxmlformats.org/officeDocument/2006/relationships" id="262" r:id="R79d19903d19340b1"/>
    <p:sldId xmlns:r="http://schemas.openxmlformats.org/officeDocument/2006/relationships" id="263" r:id="R09a89afbd2ba4a65"/>
    <p:sldId xmlns:r="http://schemas.openxmlformats.org/officeDocument/2006/relationships" id="264" r:id="R0c3ece89a6ac41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77b8af55964501" /><Relationship Type="http://schemas.openxmlformats.org/officeDocument/2006/relationships/slideMaster" Target="/ppt/slideMasters/slideMaster1.xml" Id="R4bd5696209524cbc" /><Relationship Type="http://schemas.openxmlformats.org/officeDocument/2006/relationships/notesMaster" Target="/ppt/notesMasters/notesMaster1.xml" Id="R43d3ea88e3f343ec" /><Relationship Type="http://schemas.openxmlformats.org/officeDocument/2006/relationships/presProps" Target="/ppt/presProps.xml" Id="Rdea83ea5180d4f4c" /><Relationship Type="http://schemas.openxmlformats.org/officeDocument/2006/relationships/tableStyles" Target="/ppt/tableStyles.xml" Id="R8785fe6b08714153" /><Relationship Type="http://schemas.openxmlformats.org/officeDocument/2006/relationships/slide" Target="/ppt/slides/slide1.xml" Id="R1655f6fe8017449f" /><Relationship Type="http://schemas.openxmlformats.org/officeDocument/2006/relationships/slide" Target="/ppt/slides/slide2.xml" Id="Rf4803baa35d94d35" /><Relationship Type="http://schemas.openxmlformats.org/officeDocument/2006/relationships/slide" Target="/ppt/slides/slide3.xml" Id="Ra90d4e89381a4daa" /><Relationship Type="http://schemas.openxmlformats.org/officeDocument/2006/relationships/slide" Target="/ppt/slides/slide4.xml" Id="Rd336940b56e04764" /><Relationship Type="http://schemas.openxmlformats.org/officeDocument/2006/relationships/slide" Target="/ppt/slides/slide5.xml" Id="Rcdb508ad100d4d7c" /><Relationship Type="http://schemas.openxmlformats.org/officeDocument/2006/relationships/slide" Target="/ppt/slides/slide6.xml" Id="R0789d719b2f34c90" /><Relationship Type="http://schemas.openxmlformats.org/officeDocument/2006/relationships/slide" Target="/ppt/slides/slide7.xml" Id="R79d19903d19340b1" /><Relationship Type="http://schemas.openxmlformats.org/officeDocument/2006/relationships/slide" Target="/ppt/slides/slide8.xml" Id="R09a89afbd2ba4a65" /><Relationship Type="http://schemas.openxmlformats.org/officeDocument/2006/relationships/slide" Target="/ppt/slides/slide9.xml" Id="R0c3ece89a6ac41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3665ca22a140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54214d8e264441" /><Relationship Type="http://schemas.openxmlformats.org/officeDocument/2006/relationships/notesMaster" Target="/ppt/notesMasters/notesMaster1.xml" Id="Rc4d7515fdc0742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9256b0513a44c0" /><Relationship Type="http://schemas.openxmlformats.org/officeDocument/2006/relationships/notesMaster" Target="/ppt/notesMasters/notesMaster1.xml" Id="Rb432ee7993404c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b749e6b4934af5" /><Relationship Type="http://schemas.openxmlformats.org/officeDocument/2006/relationships/notesMaster" Target="/ppt/notesMasters/notesMaster1.xml" Id="R0d82eba16d994f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c35a4914e34f2e" /><Relationship Type="http://schemas.openxmlformats.org/officeDocument/2006/relationships/notesMaster" Target="/ppt/notesMasters/notesMaster1.xml" Id="Re56f85ac6e7143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918c10073f4a6e" /><Relationship Type="http://schemas.openxmlformats.org/officeDocument/2006/relationships/notesMaster" Target="/ppt/notesMasters/notesMaster1.xml" Id="Rd389fabc890149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42f575eb2742c7" /><Relationship Type="http://schemas.openxmlformats.org/officeDocument/2006/relationships/notesMaster" Target="/ppt/notesMasters/notesMaster1.xml" Id="Ra15324d0b71b48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1ae76e7d964ee8" /><Relationship Type="http://schemas.openxmlformats.org/officeDocument/2006/relationships/notesMaster" Target="/ppt/notesMasters/notesMaster1.xml" Id="R3eb4bed687e34b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094e74e8064016" /><Relationship Type="http://schemas.openxmlformats.org/officeDocument/2006/relationships/notesMaster" Target="/ppt/notesMasters/notesMaster1.xml" Id="R3e158a0b25554f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37dc10b54e48c1" /><Relationship Type="http://schemas.openxmlformats.org/officeDocument/2006/relationships/notesMaster" Target="/ppt/notesMasters/notesMaster1.xml" Id="R4e3a5d8b6fc047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Somos Vinícius Guimarães Drexler e Wallace Dametto Teixeira. Construímos uma API de análise de risco de Pix com Python, FastAPI e PostgreSQL. A estrutura separa entrada HTTP, fluxo de decisão, regras e persistência. Dentro de src, risk concentra as regras e gnn o modelo relacional. Config guarda os parâmetros, database guarda o SQL, models guarda os pesos treinados e suas métricas. Tests verifica o comportamento e scripts reúne demonstrações e experimentos. Docs registra as decisões e políticas. Essa separação permite alterar uma regra e investigar seu efeito sem misturar transporte, modelo e banco.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README.md</a:t>
            </a:r>
          </a:p>
          <a:p xmlns:a="http://schemas.openxmlformats.org/drawingml/2006/main">
            <a:r>
              <a:t>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Começamos pela pesquisa de práticas consolidadas de prevenção a fraude. As referências documentadas são Stripe Radar e Adyen, instituições de pagamentos, além das orientações do Banco Central. Essa pesquisa ajudou a separar sinais de risco, pontuação e ação. Implementamos 13 regras. Elas cobrem frequência e montante acumulado, primeiro Pix e ausência de histórico aprovado, idade das contas, destinatário desconhecido, desvio de valor, dispositivos, horário e possível duplicidade. Como exemplos, a sexta tentativa ou R$ 30 mil acumulados em dez minutos são limites fortes definidos pelo projeto. Um aparelho novo soma 20 pontos, conforme valor e histórico. Esses pesos e limites são escolhas do protótipo. O sistema bancário integrador ainda precisa aplicar os limites regulatórios efetivos da conta. A API não consulta esses limites nem comprova conformidade regulatória.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docs/risk-scoring.md</a:t>
            </a:r>
          </a:p>
          <a:p xmlns:a="http://schemas.openxmlformats.org/drawingml/2006/main">
            <a:r>
              <a:t>config/risk-policy.json</a:t>
            </a:r>
          </a:p>
          <a:p xmlns:a="http://schemas.openxmlformats.org/drawingml/2006/main">
            <a:r>
              <a:t>https://docs.stripe.com/radar/transaction-risk-prevention</a:t>
            </a:r>
          </a:p>
          <a:p xmlns:a="http://schemas.openxmlformats.org/drawingml/2006/main">
            <a:r>
              <a:t>https://docs.adyen.com/risk-management/configure-your-risk-profile/</a:t>
            </a:r>
          </a:p>
          <a:p xmlns:a="http://schemas.openxmlformats.org/drawingml/2006/main">
            <a:r>
              <a:t>https://www.bcb.gov.br/estabilidadefinanceira/exibenormativo?numero=512&amp;tipo=Instru%C3%A7%C3%A3o+Normativa+BCB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Criamos o campo risk_score para reunir a contribuição das anormalidades encontradas. A soma é ponderada, tem tetos por fator e fica limitada a 100. Isso evita contar repetidamente sinais muito parecidos. Por exemplo, aparelho desconhecido soma 20 e destinatário desconhecido soma 15, totalizando 35 e solicitando autenticação adicional. A partir de 30 há 2FA. A partir de 80, a rejeição por score exige pelo menos dois fatores positivos. Um fator isolado de perfil, mesmo com 80 pontos, pede 2FA. Os limites fortes têm prioridade. A ausência de referência aprovada também exige 2FA a partir de R$ 500, independentemente dos pesos. A finalidade é reduzir intervenções indevidas sem deixar de tratar sinais combinados. O score é heurístico: 80 pontos não significa 80% de probabilidade de fraude.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docs/risk-scoring.md</a:t>
            </a:r>
          </a:p>
          <a:p xmlns:a="http://schemas.openxmlformats.org/drawingml/2006/main">
            <a:r>
              <a:t>config/risk-policy.json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análise de histórico se tornou indispensável porque um sinal isolado pode representar uma situação legítima. Trocar de celular não significa fraude. O mesmo vale para um novo destinatário ou um pagamento alto que já é habitual naquela relação. Por isso usamos aprovações anteriores para construir o perfil de valores e reconhecer aparelhos e destinatários. Rejeições e pendências contam como tentativas, mas não elevam a referência de valores. A confiança contextual pode zerar somente o desvio de perfil quando há amostra suficiente e o valor é compatível com a relação. Ela exige cinco amostras do pagador, três da relação em dois dias distintos e valor entre 50% e 200% da mediana. Os demais controles continuam ativos. Também excluímos dados futuros e evitamos que um reenvio conte duas vezes.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docs/contextual-trust.md</a:t>
            </a:r>
          </a:p>
          <a:p xmlns:a="http://schemas.openxmlformats.org/drawingml/2006/main">
            <a:r>
              <a:t>docs/risk-scoring.md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Construímos a suíte com apoio de IA, incluindo casos positivos, negativos e combinações de regras. A proposta inicial mencionava cerca de 400 testes. O inventário atual documenta 544 casos após expandir as parametrizações, distribuídos em 230 funções e 28 suítes. Isso descreve testes implementados, não uma nova execução feita para esta apresentação. Há verificações das 13 regras, fronteiras de score como 29 e 30, tetos e prioridades. Também incluímos situações potencialmente legítimas, como aparelho compartilhado, troca de dispositivo e pagamentos habituais, além de concorrência, persistência e reenvio. A cobertura inclui diferentes combinações, mas não afirmamos que todas as permutações possíveis foram testadas. E uma suíte passar não mede, por si só, a taxa de falsos positivos em operações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docs/testes-politicas.md</a:t>
            </a:r>
          </a:p>
          <a:p xmlns:a="http://schemas.openxmlformats.org/drawingml/2006/main">
            <a:r>
              <a:t>tests/test_rule_audit.py</a:t>
            </a:r>
          </a:p>
          <a:p xmlns:a="http://schemas.openxmlformats.org/drawingml/2006/main">
            <a:r>
              <a:t>tests/test_contextual_trust.py</a:t>
            </a:r>
          </a:p>
          <a:p xmlns:a="http://schemas.openxmlformats.org/drawingml/2006/main">
            <a:r>
              <a:t>Relato da equipe: construção com apoio de IA e proposta inicial de 400 testes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Além das regras, implementamos uma Graph Neural Network simplificada, inspirada em GraphSAGE. Ela considera a rede relacional das transações, incluindo titulares e dispositivos, e também a direção e o tempo dos eventos. A intenção é identificar padrões que uma operação isolada não revela, como cadeias de repasse rápido. Duas camadas agregam informação dos vizinhos. O treinamento usa PyTorch e a inferência usa NumPy. Na API, a consulta tem até dois saltos e uma janela de 30 dias, com limites de eventos e documentos. Hoje a GNN funciona em paralelo às regras, no modo shadow: calcula e registra sua avaliação, mas não soma pontos nem muda a decisão. O campo untrust_score só aparece quando essa avaliação está disponível. O potencial de complementar a detecção depende da validação, e a saída não é uma probabilidade calibrada de fraude.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docs/graph-v2-api.md</a:t>
            </a:r>
          </a:p>
          <a:p xmlns:a="http://schemas.openxmlformats.org/drawingml/2006/main">
            <a:r>
              <a:t>src/gnn/temporal_model.py</a:t>
            </a:r>
          </a:p>
          <a:p xmlns:a="http://schemas.openxmlformats.org/drawingml/2006/main">
            <a:r>
              <a:t>https://arxiv.org/abs/1706.02216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meta inicial da equipe era menos de 10% de falsos positivos. Nos experimentos documentados adotamos critérios mais rigorosos para propor 2FA adicional: ganho de pelo menos 5% nos positivos sintéticos, limite superior nominal de 95% de até 1% para desafios adicionais em legítimos aprováveis, até 5% por categoria e cobertura de pelo menos 95%. Na primeira avaliação v9, os critérios não passaram de forma consistente e um caso de liquidação comercial legítima recebeu score alto. Depois ampliamos os casos legítimos difíceis e separamos treino, validação, calibração e teste. Na calibração conservadora mais recente, usamos 900 cenários de calibração e 1.800 de teste. Os três candidatos passaram numericamente em duas propostas. Cada candidato teve zero desafios indevidos entre 1.064 legítimos que a linha de base aprovaria. Isso é resultado sintético, não garantia de erro zero em produção. O relatório mantém a contribuição desativada e preserva o modelo padrão. A ativação depende de evidência adicional.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docs/gnn-v9-validation.md</a:t>
            </a:r>
          </a:p>
          <a:p xmlns:a="http://schemas.openxmlformats.org/drawingml/2006/main">
            <a:r>
              <a:t>docs/gnn-false-positives.md</a:t>
            </a:r>
          </a:p>
          <a:p xmlns:a="http://schemas.openxmlformats.org/drawingml/2006/main">
            <a:r>
              <a:t>models/false-positive-v1/conservative/evaluation.metrics.json</a:t>
            </a:r>
          </a:p>
          <a:p xmlns:a="http://schemas.openxmlformats.org/drawingml/2006/main">
            <a:r>
              <a:t>Relato da equipe: meta inicial de falsos positivos abaixo de 10%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demonstração do projeto reúne três situações preparadas no script demo_score. Um pagamento normal retorna score zero e aprovação. Aparelho e destinatário desconhecidos somam 35 e pedem autenticação adicional. Um desvio de perfil com destinatário desconhecido soma 95, em dois fatores, e leva à rejeição. A resposta explica os motivos e o banco guarda a política e as evidências da análise. Repetir o mesmo ID e conteúdo preserva a decisão original. Com isso entregamos regras explicáveis, análise de histórico e uma GNN integrada para avaliação observacional. Os próximos passos são obter resultados confirmados e avaliar o ganho do grafo antes de habilitar intervenções. Agora reservamos três minutos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scripts/demo_score.py</a:t>
            </a:r>
          </a:p>
          <a:p xmlns:a="http://schemas.openxmlformats.org/drawingml/2006/main">
            <a:r>
              <a:t>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180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Reservar três minutos. Se perguntarem sobre os pesos, explicar que são hipóteses do protótipo configuradas em JSON. Se perguntarem sobre a GNN, reforçar que a API permite shadow ou off e não habilitou contribuição. O experimento conservador apresentou resultado sintético favorável, sem substituir automaticamente o modelo. Se perguntarem sobre 400 e 544 testes, explicar que 400 era a proposta inicial e 544 é o inventário documentado após parametrizações. Se perguntarem sobre normas, explicar que pesquisamos orientações do BCB e o integrador ainda precisa consultar os limites regulatórios efetivos. O motor solicita 2FA, mas não executa autenticação nem confirma liquidação.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README.md</a:t>
            </a:r>
          </a:p>
          <a:p xmlns:a="http://schemas.openxmlformats.org/drawingml/2006/main">
            <a:r>
              <a:t>docs/testes-politicas.md</a:t>
            </a:r>
          </a:p>
          <a:p xmlns:a="http://schemas.openxmlformats.org/drawingml/2006/main">
            <a:r>
              <a:t>docs/graph-v2-api.md</a:t>
            </a:r>
          </a:p>
          <a:p xmlns:a="http://schemas.openxmlformats.org/drawingml/2006/main">
            <a:r>
              <a:t>docs/risk-scoring.md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dd9d9b1104b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912df20f24c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7985e23bc45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77f71921145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9464484b74f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b5c45f0ef45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7CA891-BDD5-4DCB-BB56-DF334894BF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8F8528-54A8-4BA2-91E3-93D6966EDC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61BC3A-0265-4238-AC56-3C79579C5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C2D6D7-CC55-4EEA-A866-46608B1093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DD9289-7E7B-4331-93B6-326C60454F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D3D03F-6540-48F7-AF9B-5F6D97125F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F97E70-ED85-4831-92C0-ED7ECD9A92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D0932E-793D-4971-A192-820F4DA63D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2A2132-BEAE-42C7-A6B9-F13D0F9400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ABEDE7-7F0F-46FB-82E9-900C66C0C0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049dc873454a23" /><Relationship Type="http://schemas.openxmlformats.org/officeDocument/2006/relationships/slideLayout" Target="/ppt/slideLayouts/slideLayout1.xml" Id="R82f6ea68ea9f4b34" /><Relationship Type="http://schemas.openxmlformats.org/officeDocument/2006/relationships/slideLayout" Target="/ppt/slideLayouts/slideLayout2.xml" Id="Ra01ed76b1d4d4252" /><Relationship Type="http://schemas.openxmlformats.org/officeDocument/2006/relationships/slideLayout" Target="/ppt/slideLayouts/slideLayout3.xml" Id="Ra6958db614684b2d" /><Relationship Type="http://schemas.openxmlformats.org/officeDocument/2006/relationships/slideLayout" Target="/ppt/slideLayouts/slideLayout4.xml" Id="Rc86cc9843ea245ee" /><Relationship Type="http://schemas.openxmlformats.org/officeDocument/2006/relationships/slideLayout" Target="/ppt/slideLayouts/slideLayout5.xml" Id="R5d1c874cc1244142" /><Relationship Type="http://schemas.openxmlformats.org/officeDocument/2006/relationships/slideLayout" Target="/ppt/slideLayouts/slideLayout6.xml" Id="R148c2f92caf046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f6ea68ea9f4b34"/>
    <p:sldLayoutId xmlns:r="http://schemas.openxmlformats.org/officeDocument/2006/relationships" id="2147483650" r:id="Ra01ed76b1d4d4252"/>
    <p:sldLayoutId xmlns:r="http://schemas.openxmlformats.org/officeDocument/2006/relationships" id="2147483651" r:id="Ra6958db614684b2d"/>
    <p:sldLayoutId xmlns:r="http://schemas.openxmlformats.org/officeDocument/2006/relationships" id="2147483652" r:id="Rc86cc9843ea245ee"/>
    <p:sldLayoutId xmlns:r="http://schemas.openxmlformats.org/officeDocument/2006/relationships" id="2147483653" r:id="R5d1c874cc1244142"/>
    <p:sldLayoutId xmlns:r="http://schemas.openxmlformats.org/officeDocument/2006/relationships" id="2147483654" r:id="R148c2f92caf046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71d0883cb4a3a" /><Relationship Type="http://schemas.openxmlformats.org/officeDocument/2006/relationships/notesSlide" Target="/ppt/notesSlides/notesSlide1.xml" Id="R8ddd7d0d34de46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077d5553bb4013" /><Relationship Type="http://schemas.openxmlformats.org/officeDocument/2006/relationships/notesSlide" Target="/ppt/notesSlides/notesSlide2.xml" Id="R160b0faf47ed48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265fa5da2246af" /><Relationship Type="http://schemas.openxmlformats.org/officeDocument/2006/relationships/notesSlide" Target="/ppt/notesSlides/notesSlide3.xml" Id="R47c2de9c098c46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816904bec4ed3" /><Relationship Type="http://schemas.openxmlformats.org/officeDocument/2006/relationships/notesSlide" Target="/ppt/notesSlides/notesSlide4.xml" Id="R8ef59111b66147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05c10f9d84d24" /><Relationship Type="http://schemas.openxmlformats.org/officeDocument/2006/relationships/notesSlide" Target="/ppt/notesSlides/notesSlide5.xml" Id="R3df0592e89f94d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00d24e1be404f" /><Relationship Type="http://schemas.openxmlformats.org/officeDocument/2006/relationships/notesSlide" Target="/ppt/notesSlides/notesSlide6.xml" Id="Rde9af5b12fac4f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e8afd51ce4caa" /><Relationship Type="http://schemas.openxmlformats.org/officeDocument/2006/relationships/notesSlide" Target="/ppt/notesSlides/notesSlide7.xml" Id="R229e15152dd544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b97fbeae64498d" /><Relationship Type="http://schemas.openxmlformats.org/officeDocument/2006/relationships/notesSlide" Target="/ppt/notesSlides/notesSlide8.xml" Id="R83175b1b8bf14e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ec077d0d64d83" /><Relationship Type="http://schemas.openxmlformats.org/officeDocument/2006/relationships/notesSlide" Target="/ppt/notesSlides/notesSlide9.xml" Id="R4c507e1126b648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ix Antifraude: estrutura do projeto">
            <a:extLst xmlns:a="http://schemas.openxmlformats.org/drawingml/2006/main">
              <a:ext uri="{FF2B5EF4-FFF2-40B4-BE49-F238E27FC236}">
                <a16:creationId xmlns:a16="http://schemas.microsoft.com/office/drawing/2014/main" id="{FFC4A147-D5CD-4A34-A3AE-C85E0DC8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Pix Antifraude: estrutura do projeto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D62E9971-D488-42C5-A49F-3464F7CF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src/">
            <a:extLst xmlns:a="http://schemas.openxmlformats.org/drawingml/2006/main">
              <a:ext uri="{FF2B5EF4-FFF2-40B4-BE49-F238E27FC236}">
                <a16:creationId xmlns:a16="http://schemas.microsoft.com/office/drawing/2014/main" id="{0599DACF-CD36-41F5-9087-E44114D7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src/</a:t>
            </a:r>
          </a:p>
        </p:txBody>
      </p:sp>
      <p:sp>
        <p:nvSpPr>
          <p:cNvPr id="4" name="API e motor de decisão">
            <a:extLst xmlns:a="http://schemas.openxmlformats.org/drawingml/2006/main">
              <a:ext uri="{FF2B5EF4-FFF2-40B4-BE49-F238E27FC236}">
                <a16:creationId xmlns:a16="http://schemas.microsoft.com/office/drawing/2014/main" id="{B64C6549-0A8E-47FB-BBC4-7937ACBF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API e motor de decisão</a:t>
            </a:r>
          </a:p>
        </p:txBody>
      </p:sp>
      <p:sp>
        <p:nvSpPr>
          <p:cNvPr id="5" name="  risk/">
            <a:extLst xmlns:a="http://schemas.openxmlformats.org/drawingml/2006/main">
              <a:ext uri="{FF2B5EF4-FFF2-40B4-BE49-F238E27FC236}">
                <a16:creationId xmlns:a16="http://schemas.microsoft.com/office/drawing/2014/main" id="{94D5C75A-4641-4121-9CA0-6CA60695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  risk/</a:t>
            </a:r>
          </a:p>
        </p:txBody>
      </p:sp>
      <p:sp>
        <p:nvSpPr>
          <p:cNvPr id="6" name="Regras, pesos e contexto">
            <a:extLst xmlns:a="http://schemas.openxmlformats.org/drawingml/2006/main">
              <a:ext uri="{FF2B5EF4-FFF2-40B4-BE49-F238E27FC236}">
                <a16:creationId xmlns:a16="http://schemas.microsoft.com/office/drawing/2014/main" id="{1D0064A7-1E88-445A-8557-ED075A76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Regras, pesos e contexto</a:t>
            </a:r>
          </a:p>
        </p:txBody>
      </p:sp>
      <p:sp>
        <p:nvSpPr>
          <p:cNvPr id="7" name="  gnn/">
            <a:extLst xmlns:a="http://schemas.openxmlformats.org/drawingml/2006/main">
              <a:ext uri="{FF2B5EF4-FFF2-40B4-BE49-F238E27FC236}">
                <a16:creationId xmlns:a16="http://schemas.microsoft.com/office/drawing/2014/main" id="{808F495B-82D1-46A4-9ABB-F38E5D2D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4795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  gnn/</a:t>
            </a:r>
          </a:p>
        </p:txBody>
      </p:sp>
      <p:sp>
        <p:nvSpPr>
          <p:cNvPr id="8" name="Modelo relacional temporal">
            <a:extLst xmlns:a="http://schemas.openxmlformats.org/drawingml/2006/main">
              <a:ext uri="{FF2B5EF4-FFF2-40B4-BE49-F238E27FC236}">
                <a16:creationId xmlns:a16="http://schemas.microsoft.com/office/drawing/2014/main" id="{0C76E42E-2C0F-42DF-BE67-E53FF673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Modelo relacional temporal</a:t>
            </a:r>
          </a:p>
        </p:txBody>
      </p:sp>
      <p:sp>
        <p:nvSpPr>
          <p:cNvPr id="9" name="config/">
            <a:extLst xmlns:a="http://schemas.openxmlformats.org/drawingml/2006/main">
              <a:ext uri="{FF2B5EF4-FFF2-40B4-BE49-F238E27FC236}">
                <a16:creationId xmlns:a16="http://schemas.microsoft.com/office/drawing/2014/main" id="{DA5E1214-D766-422D-BD4D-6D28482C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config/</a:t>
            </a:r>
          </a:p>
        </p:txBody>
      </p:sp>
      <p:sp>
        <p:nvSpPr>
          <p:cNvPr id="10" name="Políticas e parâmetros">
            <a:extLst xmlns:a="http://schemas.openxmlformats.org/drawingml/2006/main">
              <a:ext uri="{FF2B5EF4-FFF2-40B4-BE49-F238E27FC236}">
                <a16:creationId xmlns:a16="http://schemas.microsoft.com/office/drawing/2014/main" id="{29BCE21B-2DA9-41EA-AFEA-CFC2B222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2420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Políticas e parâmetros</a:t>
            </a:r>
          </a:p>
        </p:txBody>
      </p:sp>
      <p:sp>
        <p:nvSpPr>
          <p:cNvPr id="11" name="database/">
            <a:extLst xmlns:a="http://schemas.openxmlformats.org/drawingml/2006/main">
              <a:ext uri="{FF2B5EF4-FFF2-40B4-BE49-F238E27FC236}">
                <a16:creationId xmlns:a16="http://schemas.microsoft.com/office/drawing/2014/main" id="{2A758822-CFB2-479C-80D4-052B2B76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045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database/</a:t>
            </a:r>
          </a:p>
        </p:txBody>
      </p:sp>
      <p:sp>
        <p:nvSpPr>
          <p:cNvPr id="12" name="SQL e migrações">
            <a:extLst xmlns:a="http://schemas.openxmlformats.org/drawingml/2006/main">
              <a:ext uri="{FF2B5EF4-FFF2-40B4-BE49-F238E27FC236}">
                <a16:creationId xmlns:a16="http://schemas.microsoft.com/office/drawing/2014/main" id="{0ACEA768-38DB-4BE3-A04E-15F39C31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SQL e migrações</a:t>
            </a:r>
          </a:p>
        </p:txBody>
      </p:sp>
      <p:sp>
        <p:nvSpPr>
          <p:cNvPr id="13" name="models/">
            <a:extLst xmlns:a="http://schemas.openxmlformats.org/drawingml/2006/main">
              <a:ext uri="{FF2B5EF4-FFF2-40B4-BE49-F238E27FC236}">
                <a16:creationId xmlns:a16="http://schemas.microsoft.com/office/drawing/2014/main" id="{CF58F311-7471-4BC3-A9BF-2D383199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models/</a:t>
            </a:r>
          </a:p>
        </p:txBody>
      </p:sp>
      <p:sp>
        <p:nvSpPr>
          <p:cNvPr id="14" name="Pesos treinados e métricas">
            <a:extLst xmlns:a="http://schemas.openxmlformats.org/drawingml/2006/main">
              <a:ext uri="{FF2B5EF4-FFF2-40B4-BE49-F238E27FC236}">
                <a16:creationId xmlns:a16="http://schemas.microsoft.com/office/drawing/2014/main" id="{FC9876AD-2D38-4812-930E-3AF9DB76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7670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Pesos treinados e métricas</a:t>
            </a:r>
          </a:p>
        </p:txBody>
      </p:sp>
      <p:sp>
        <p:nvSpPr>
          <p:cNvPr id="15" name="tests/ e scripts/">
            <a:extLst xmlns:a="http://schemas.openxmlformats.org/drawingml/2006/main">
              <a:ext uri="{FF2B5EF4-FFF2-40B4-BE49-F238E27FC236}">
                <a16:creationId xmlns:a16="http://schemas.microsoft.com/office/drawing/2014/main" id="{3B428F6D-BE63-4AD9-BD1E-97BFB2C0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5295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tests/ e scripts/</a:t>
            </a:r>
          </a:p>
        </p:txBody>
      </p:sp>
      <p:sp>
        <p:nvSpPr>
          <p:cNvPr id="16" name="Testes, treino e demonstrações">
            <a:extLst xmlns:a="http://schemas.openxmlformats.org/drawingml/2006/main">
              <a:ext uri="{FF2B5EF4-FFF2-40B4-BE49-F238E27FC236}">
                <a16:creationId xmlns:a16="http://schemas.microsoft.com/office/drawing/2014/main" id="{D0009852-E585-4BAB-B146-72343EF3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5295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Testes, treino e demonstrações</a:t>
            </a:r>
          </a:p>
        </p:txBody>
      </p:sp>
      <p:sp>
        <p:nvSpPr>
          <p:cNvPr id="17" name="docs/">
            <a:extLst xmlns:a="http://schemas.openxmlformats.org/drawingml/2006/main">
              <a:ext uri="{FF2B5EF4-FFF2-40B4-BE49-F238E27FC236}">
                <a16:creationId xmlns:a16="http://schemas.microsoft.com/office/drawing/2014/main" id="{82B61D7D-D96E-42E6-9B2A-C3B5D8D3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292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docs/</a:t>
            </a:r>
          </a:p>
        </p:txBody>
      </p:sp>
      <p:sp>
        <p:nvSpPr>
          <p:cNvPr id="18" name="Arquitetura e políticas">
            <a:extLst xmlns:a="http://schemas.openxmlformats.org/drawingml/2006/main">
              <a:ext uri="{FF2B5EF4-FFF2-40B4-BE49-F238E27FC236}">
                <a16:creationId xmlns:a16="http://schemas.microsoft.com/office/drawing/2014/main" id="{71DFB3D0-8E84-4998-AB37-6D90B243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2920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Arquitetura e políticas</a:t>
            </a:r>
          </a:p>
        </p:txBody>
      </p:sp>
      <p:sp>
        <p:nvSpPr>
          <p:cNvPr id="19" name="Vinícius Guimarães Drexler e Wallace Dametto Teixeira">
            <a:extLst xmlns:a="http://schemas.openxmlformats.org/drawingml/2006/main">
              <a:ext uri="{FF2B5EF4-FFF2-40B4-BE49-F238E27FC236}">
                <a16:creationId xmlns:a16="http://schemas.microsoft.com/office/drawing/2014/main" id="{C4A2C3FC-9412-42CA-BB2D-058551FE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Vinícius Guimarães Drexler e Wallace Dametto Teixeira</a:t>
            </a:r>
          </a:p>
        </p:txBody>
      </p:sp>
    </p:spTree>
    <p:extLst>
      <p:ext uri="{BB962C8B-B14F-4D97-AF65-F5344CB8AC3E}">
        <p14:creationId xmlns:p14="http://schemas.microsoft.com/office/powerpoint/2010/main" val="1854139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gras: pesquisa e implementação">
            <a:extLst xmlns:a="http://schemas.openxmlformats.org/drawingml/2006/main">
              <a:ext uri="{FF2B5EF4-FFF2-40B4-BE49-F238E27FC236}">
                <a16:creationId xmlns:a16="http://schemas.microsoft.com/office/drawing/2014/main" id="{E6B75144-B629-4147-90DA-45A38F69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Regras: pesquisa e implementação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16C54D96-C8D8-4CE1-858F-C74E04F9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ferências: Stripe Radar, Adyen e orientações do Banco">
            <a:extLst xmlns:a="http://schemas.openxmlformats.org/drawingml/2006/main">
              <a:ext uri="{FF2B5EF4-FFF2-40B4-BE49-F238E27FC236}">
                <a16:creationId xmlns:a16="http://schemas.microsoft.com/office/drawing/2014/main" id="{371734B9-427F-4490-B65A-7A4EC351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Referências: Stripe Radar, Adyen e orientações do Banco Central</a:t>
            </a:r>
          </a:p>
        </p:txBody>
      </p:sp>
      <p:sp>
        <p:nvSpPr>
          <p:cNvPr id="4" name="Frequência e montante">
            <a:extLst xmlns:a="http://schemas.openxmlformats.org/drawingml/2006/main">
              <a:ext uri="{FF2B5EF4-FFF2-40B4-BE49-F238E27FC236}">
                <a16:creationId xmlns:a16="http://schemas.microsoft.com/office/drawing/2014/main" id="{5424A225-6E59-4065-8EE6-581F6A94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Frequência e montante</a:t>
            </a:r>
          </a:p>
        </p:txBody>
      </p:sp>
      <p:sp>
        <p:nvSpPr>
          <p:cNvPr id="5" name="6ª tentativa ou ≥ R$ 30 mil em 10 min: rejeição">
            <a:extLst xmlns:a="http://schemas.openxmlformats.org/drawingml/2006/main">
              <a:ext uri="{FF2B5EF4-FFF2-40B4-BE49-F238E27FC236}">
                <a16:creationId xmlns:a16="http://schemas.microsoft.com/office/drawing/2014/main" id="{A155C851-24D1-4BB4-B785-78039AD5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00275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6ª tentativa ou ≥ R$ 30 mil em 10 min: rejeição</a:t>
            </a:r>
          </a:p>
        </p:txBody>
      </p:sp>
      <p:sp>
        <p:nvSpPr>
          <p:cNvPr id="6" name="Histórico e perfil">
            <a:extLst xmlns:a="http://schemas.openxmlformats.org/drawingml/2006/main">
              <a:ext uri="{FF2B5EF4-FFF2-40B4-BE49-F238E27FC236}">
                <a16:creationId xmlns:a16="http://schemas.microsoft.com/office/drawing/2014/main" id="{645356EA-3D82-4F7B-B882-CD4BE188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Histórico e perfil</a:t>
            </a:r>
          </a:p>
        </p:txBody>
      </p:sp>
      <p:sp>
        <p:nvSpPr>
          <p:cNvPr id="7" name="Primeiro Pix, referência insuficiente e desvio de valor">
            <a:extLst xmlns:a="http://schemas.openxmlformats.org/drawingml/2006/main">
              <a:ext uri="{FF2B5EF4-FFF2-40B4-BE49-F238E27FC236}">
                <a16:creationId xmlns:a16="http://schemas.microsoft.com/office/drawing/2014/main" id="{8D04E9C8-1429-4AE5-A69F-E8E272DE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67025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Primeiro Pix, referência insuficiente e desvio de valor</a:t>
            </a:r>
          </a:p>
        </p:txBody>
      </p:sp>
      <p:sp>
        <p:nvSpPr>
          <p:cNvPr id="8" name="Contas e destinatário">
            <a:extLst xmlns:a="http://schemas.openxmlformats.org/drawingml/2006/main">
              <a:ext uri="{FF2B5EF4-FFF2-40B4-BE49-F238E27FC236}">
                <a16:creationId xmlns:a16="http://schemas.microsoft.com/office/drawing/2014/main" id="{B741BA53-240E-4C0D-AB67-3FC75F43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Contas e destinatário</a:t>
            </a:r>
          </a:p>
        </p:txBody>
      </p:sp>
      <p:sp>
        <p:nvSpPr>
          <p:cNvPr id="9" name="Idade da origem, destino recente ou desconhecido">
            <a:extLst xmlns:a="http://schemas.openxmlformats.org/drawingml/2006/main">
              <a:ext uri="{FF2B5EF4-FFF2-40B4-BE49-F238E27FC236}">
                <a16:creationId xmlns:a16="http://schemas.microsoft.com/office/drawing/2014/main" id="{30221B34-07AE-4E4E-8FCF-AE18A41E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33775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Idade da origem, destino recente ou desconhecido</a:t>
            </a:r>
          </a:p>
        </p:txBody>
      </p:sp>
      <p:sp>
        <p:nvSpPr>
          <p:cNvPr id="10" name="Dispositivos e contexto">
            <a:extLst xmlns:a="http://schemas.openxmlformats.org/drawingml/2006/main">
              <a:ext uri="{FF2B5EF4-FFF2-40B4-BE49-F238E27FC236}">
                <a16:creationId xmlns:a16="http://schemas.microsoft.com/office/drawing/2014/main" id="{7D4EC726-806F-424E-85F1-02F10420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Dispositivos e contexto</a:t>
            </a:r>
          </a:p>
        </p:txBody>
      </p:sp>
      <p:sp>
        <p:nvSpPr>
          <p:cNvPr id="11" name="Aparelho novo, compartilhado, diversidade e horário">
            <a:extLst xmlns:a="http://schemas.openxmlformats.org/drawingml/2006/main">
              <a:ext uri="{FF2B5EF4-FFF2-40B4-BE49-F238E27FC236}">
                <a16:creationId xmlns:a16="http://schemas.microsoft.com/office/drawing/2014/main" id="{1C505824-7512-42DB-8CC9-D72DDA64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00525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Aparelho novo, compartilhado, diversidade e horário</a:t>
            </a:r>
          </a:p>
        </p:txBody>
      </p:sp>
      <p:sp>
        <p:nvSpPr>
          <p:cNvPr id="12" name="Possível duplicidade">
            <a:extLst xmlns:a="http://schemas.openxmlformats.org/drawingml/2006/main">
              <a:ext uri="{FF2B5EF4-FFF2-40B4-BE49-F238E27FC236}">
                <a16:creationId xmlns:a16="http://schemas.microsoft.com/office/drawing/2014/main" id="{088EAF66-892A-4C35-A55E-A443EEF0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Possível duplicidade</a:t>
            </a:r>
          </a:p>
        </p:txBody>
      </p:sp>
      <p:sp>
        <p:nvSpPr>
          <p:cNvPr id="13" name="Mesma origem, destino e valor em até 120 segundos">
            <a:extLst xmlns:a="http://schemas.openxmlformats.org/drawingml/2006/main">
              <a:ext uri="{FF2B5EF4-FFF2-40B4-BE49-F238E27FC236}">
                <a16:creationId xmlns:a16="http://schemas.microsoft.com/office/drawing/2014/main" id="{914E9738-4B6E-48A5-B767-71B5FA1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67275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Mesma origem, destino e valor em até 120 segundos</a:t>
            </a:r>
          </a:p>
        </p:txBody>
      </p:sp>
      <p:sp>
        <p:nvSpPr>
          <p:cNvPr id="14" name="13 regras. Pesos e limites do protótipo são definidos p">
            <a:extLst xmlns:a="http://schemas.openxmlformats.org/drawingml/2006/main">
              <a:ext uri="{FF2B5EF4-FFF2-40B4-BE49-F238E27FC236}">
                <a16:creationId xmlns:a16="http://schemas.microsoft.com/office/drawing/2014/main" id="{4A35D09A-8479-450B-BA7C-74A900E2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13 regras. Pesos e limites do protótipo são definidos pela equipe.</a:t>
            </a:r>
          </a:p>
          <a:p xmlns:a="http://schemas.openxmlformats.org/drawingml/2006/main">
            <a: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Os limites regulatórios efetivos dependem do integrador bancário.</a:t>
            </a:r>
          </a:p>
        </p:txBody>
      </p:sp>
    </p:spTree>
    <p:extLst>
      <p:ext uri="{BB962C8B-B14F-4D97-AF65-F5344CB8AC3E}">
        <p14:creationId xmlns:p14="http://schemas.microsoft.com/office/powerpoint/2010/main" val="699887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isk score: soma ponderada dos sinais">
            <a:extLst xmlns:a="http://schemas.openxmlformats.org/drawingml/2006/main">
              <a:ext uri="{FF2B5EF4-FFF2-40B4-BE49-F238E27FC236}">
                <a16:creationId xmlns:a16="http://schemas.microsoft.com/office/drawing/2014/main" id="{C740221C-1BC3-4A60-94B0-20609D86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Risk score: soma ponderada dos sinais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D8F90739-1C8E-41A0-AD28-80F8B9D3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isk_score = soma dos pontos, com tetos por fator e lim">
            <a:extLst xmlns:a="http://schemas.openxmlformats.org/drawingml/2006/main">
              <a:ext uri="{FF2B5EF4-FFF2-40B4-BE49-F238E27FC236}">
                <a16:creationId xmlns:a16="http://schemas.microsoft.com/office/drawing/2014/main" id="{6A4FE257-329B-4C69-9FCC-AB940B34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risk_score = soma dos pontos, com tetos por fator e limite de 100</a:t>
            </a:r>
          </a:p>
        </p:txBody>
      </p:sp>
      <p:sp>
        <p:nvSpPr>
          <p:cNvPr id="4" name="20 + 15 = 35">
            <a:extLst xmlns:a="http://schemas.openxmlformats.org/drawingml/2006/main">
              <a:ext uri="{FF2B5EF4-FFF2-40B4-BE49-F238E27FC236}">
                <a16:creationId xmlns:a16="http://schemas.microsoft.com/office/drawing/2014/main" id="{2FB0D48A-423B-4E9C-9E21-492A7035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20 + 15 = 35</a:t>
            </a:r>
          </a:p>
        </p:txBody>
      </p:sp>
      <p:sp>
        <p:nvSpPr>
          <p:cNvPr id="5" name="Aparelho desconhecido + destinatário desconhecido: soli">
            <a:extLst xmlns:a="http://schemas.openxmlformats.org/drawingml/2006/main">
              <a:ext uri="{FF2B5EF4-FFF2-40B4-BE49-F238E27FC236}">
                <a16:creationId xmlns:a16="http://schemas.microsoft.com/office/drawing/2014/main" id="{CACF1DAF-EA7D-46B3-89D4-4D00D0FB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Aparelho desconhecido + destinatário desconhecido: solicitar 2FA</a:t>
            </a:r>
          </a:p>
        </p:txBody>
      </p:sp>
      <p:sp>
        <p:nvSpPr>
          <p:cNvPr id="6" name="≥ 30">
            <a:extLst xmlns:a="http://schemas.openxmlformats.org/drawingml/2006/main">
              <a:ext uri="{FF2B5EF4-FFF2-40B4-BE49-F238E27FC236}">
                <a16:creationId xmlns:a16="http://schemas.microsoft.com/office/drawing/2014/main" id="{1DBB8469-FB55-4899-BBEC-0A19260C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≥ 30</a:t>
            </a:r>
          </a:p>
        </p:txBody>
      </p:sp>
      <p:sp>
        <p:nvSpPr>
          <p:cNvPr id="7" name="≥ 80">
            <a:extLst xmlns:a="http://schemas.openxmlformats.org/drawingml/2006/main">
              <a:ext uri="{FF2B5EF4-FFF2-40B4-BE49-F238E27FC236}">
                <a16:creationId xmlns:a16="http://schemas.microsoft.com/office/drawing/2014/main" id="{76FE2CE5-56D2-4279-89C1-B1D6F8D7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4481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≥ 80</a:t>
            </a:r>
          </a:p>
        </p:txBody>
      </p:sp>
      <p:sp>
        <p:nvSpPr>
          <p:cNvPr id="8" name="Limites fortes">
            <a:extLst xmlns:a="http://schemas.openxmlformats.org/drawingml/2006/main">
              <a:ext uri="{FF2B5EF4-FFF2-40B4-BE49-F238E27FC236}">
                <a16:creationId xmlns:a16="http://schemas.microsoft.com/office/drawing/2014/main" id="{4A7D757D-37C1-4992-AB58-316D01CD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48175"/>
            <a:ext cx="3590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Limites fortes</a:t>
            </a:r>
          </a:p>
        </p:txBody>
      </p:sp>
      <p:sp>
        <p:nvSpPr>
          <p:cNvPr id="9" name="Autenticação adicional">
            <a:extLst xmlns:a="http://schemas.openxmlformats.org/drawingml/2006/main">
              <a:ext uri="{FF2B5EF4-FFF2-40B4-BE49-F238E27FC236}">
                <a16:creationId xmlns:a16="http://schemas.microsoft.com/office/drawing/2014/main" id="{798072D8-241B-4859-B8D0-9EF8A0F6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Autenticação adicional</a:t>
            </a:r>
          </a:p>
        </p:txBody>
      </p:sp>
      <p:sp>
        <p:nvSpPr>
          <p:cNvPr id="10" name="Rejeição com ao menos&#10;dois fatores positivos">
            <a:extLst xmlns:a="http://schemas.openxmlformats.org/drawingml/2006/main">
              <a:ext uri="{FF2B5EF4-FFF2-40B4-BE49-F238E27FC236}">
                <a16:creationId xmlns:a16="http://schemas.microsoft.com/office/drawing/2014/main" id="{8794F26A-E26D-40D6-8326-402E4524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086350"/>
            <a:ext cx="328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Rejeição com ao menos</a:t>
            </a:r>
          </a:p>
          <a:p xmlns:a="http://schemas.openxmlformats.org/drawingml/2006/main">
            <a: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dois fatores positivos</a:t>
            </a:r>
          </a:p>
        </p:txBody>
      </p:sp>
      <p:sp>
        <p:nvSpPr>
          <p:cNvPr id="11" name="Rejeição prioritária">
            <a:extLst xmlns:a="http://schemas.openxmlformats.org/drawingml/2006/main">
              <a:ext uri="{FF2B5EF4-FFF2-40B4-BE49-F238E27FC236}">
                <a16:creationId xmlns:a16="http://schemas.microsoft.com/office/drawing/2014/main" id="{ADA6649F-9943-44D4-A671-B4D8C0B0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086350"/>
            <a:ext cx="3590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Rejeição prioritária</a:t>
            </a:r>
          </a:p>
        </p:txBody>
      </p:sp>
      <p:sp>
        <p:nvSpPr>
          <p:cNvPr id="12" name="Sem referência aprovada: ≥ R$ 500 exige 2FA. Score não ">
            <a:extLst xmlns:a="http://schemas.openxmlformats.org/drawingml/2006/main">
              <a:ext uri="{FF2B5EF4-FFF2-40B4-BE49-F238E27FC236}">
                <a16:creationId xmlns:a16="http://schemas.microsoft.com/office/drawing/2014/main" id="{CE12549F-8BF5-4024-81E1-4273777B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Sem referência aprovada: ≥ R$ 500 exige 2FA. Score não é probabilidade de fraude.</a:t>
            </a:r>
          </a:p>
        </p:txBody>
      </p:sp>
    </p:spTree>
    <p:extLst>
      <p:ext uri="{BB962C8B-B14F-4D97-AF65-F5344CB8AC3E}">
        <p14:creationId xmlns:p14="http://schemas.microsoft.com/office/powerpoint/2010/main" val="1011541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istórico: contexto para reduzir falsos positivos">
            <a:extLst xmlns:a="http://schemas.openxmlformats.org/drawingml/2006/main">
              <a:ext uri="{FF2B5EF4-FFF2-40B4-BE49-F238E27FC236}">
                <a16:creationId xmlns:a16="http://schemas.microsoft.com/office/drawing/2014/main" id="{704F1809-226A-4685-A6DD-CF1A365D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Histórico: contexto para reduzir falsos positivos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6472811A-5C09-443F-92FF-D7EA24A8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A mesma anormalidade pode ter uma explicação legítima">
            <a:extLst xmlns:a="http://schemas.openxmlformats.org/drawingml/2006/main">
              <a:ext uri="{FF2B5EF4-FFF2-40B4-BE49-F238E27FC236}">
                <a16:creationId xmlns:a16="http://schemas.microsoft.com/office/drawing/2014/main" id="{A73154DF-1F49-4F07-A77F-A47972BF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A mesma anormalidade pode ter uma explicação legítima</a:t>
            </a:r>
          </a:p>
        </p:txBody>
      </p:sp>
      <p:sp>
        <p:nvSpPr>
          <p:cNvPr id="4" name="Troca de celular">
            <a:extLst xmlns:a="http://schemas.openxmlformats.org/drawingml/2006/main">
              <a:ext uri="{FF2B5EF4-FFF2-40B4-BE49-F238E27FC236}">
                <a16:creationId xmlns:a16="http://schemas.microsoft.com/office/drawing/2014/main" id="{E9B770A5-58A1-40F9-BACF-00C2CBF7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Troca de celular</a:t>
            </a:r>
          </a:p>
        </p:txBody>
      </p:sp>
      <p:sp>
        <p:nvSpPr>
          <p:cNvPr id="5" name="Pagamento alto habitual">
            <a:extLst xmlns:a="http://schemas.openxmlformats.org/drawingml/2006/main">
              <a:ext uri="{FF2B5EF4-FFF2-40B4-BE49-F238E27FC236}">
                <a16:creationId xmlns:a16="http://schemas.microsoft.com/office/drawing/2014/main" id="{EE2534D0-94C7-42FA-AC6E-5ED246DB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24125"/>
            <a:ext cx="512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Pagamento alto habitual</a:t>
            </a:r>
          </a:p>
        </p:txBody>
      </p:sp>
      <p:sp>
        <p:nvSpPr>
          <p:cNvPr id="6" name="Aparelho novo pede análise&#10;do valor e do histórico.">
            <a:extLst xmlns:a="http://schemas.openxmlformats.org/drawingml/2006/main">
              <a:ext uri="{FF2B5EF4-FFF2-40B4-BE49-F238E27FC236}">
                <a16:creationId xmlns:a16="http://schemas.microsoft.com/office/drawing/2014/main" id="{048A0CE0-7408-4186-91D4-613DD8EA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Aparelho novo pede análise</a:t>
            </a:r>
          </a:p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do valor e do histórico.</a:t>
            </a:r>
          </a:p>
        </p:txBody>
      </p:sp>
      <p:sp>
        <p:nvSpPr>
          <p:cNvPr id="7" name="Confiança na relação pode zerar&#10;apenas o desvio de perf">
            <a:extLst xmlns:a="http://schemas.openxmlformats.org/drawingml/2006/main">
              <a:ext uri="{FF2B5EF4-FFF2-40B4-BE49-F238E27FC236}">
                <a16:creationId xmlns:a16="http://schemas.microsoft.com/office/drawing/2014/main" id="{6FC9B7D5-9AE0-4E00-9DAF-2C3938CD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5124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Confiança na relação pode zerar</a:t>
            </a:r>
          </a:p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apenas o desvio de perfil.</a:t>
            </a:r>
          </a:p>
        </p:txBody>
      </p:sp>
      <p:sp>
        <p:nvSpPr>
          <p:cNvPr id="8" name="O perfil usa somente aprovações anteriores.&#10;Pendências ">
            <a:extLst xmlns:a="http://schemas.openxmlformats.org/drawingml/2006/main">
              <a:ext uri="{FF2B5EF4-FFF2-40B4-BE49-F238E27FC236}">
                <a16:creationId xmlns:a16="http://schemas.microsoft.com/office/drawing/2014/main" id="{8AC97D26-A6A2-4261-AF78-706CE2F1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O perfil usa somente aprovações anteriores.</a:t>
            </a:r>
          </a:p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Pendências e rejeições contam como tentativas, sem elevar a referência.</a:t>
            </a:r>
          </a:p>
        </p:txBody>
      </p:sp>
      <p:sp>
        <p:nvSpPr>
          <p:cNvPr id="9" name="Reenvios não duplicam o histórico. Dados futuros ficam ">
            <a:extLst xmlns:a="http://schemas.openxmlformats.org/drawingml/2006/main">
              <a:ext uri="{FF2B5EF4-FFF2-40B4-BE49-F238E27FC236}">
                <a16:creationId xmlns:a16="http://schemas.microsoft.com/office/drawing/2014/main" id="{328F057F-FF91-4CFC-95E1-C13A7F95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Reenvios não duplicam o histórico. Dados futuros ficam fora da análise.</a:t>
            </a:r>
          </a:p>
        </p:txBody>
      </p:sp>
    </p:spTree>
    <p:extLst>
      <p:ext uri="{BB962C8B-B14F-4D97-AF65-F5344CB8AC3E}">
        <p14:creationId xmlns:p14="http://schemas.microsoft.com/office/powerpoint/2010/main" val="714731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stes: regras, combinações e casos legítimos">
            <a:extLst xmlns:a="http://schemas.openxmlformats.org/drawingml/2006/main">
              <a:ext uri="{FF2B5EF4-FFF2-40B4-BE49-F238E27FC236}">
                <a16:creationId xmlns:a16="http://schemas.microsoft.com/office/drawing/2014/main" id="{F4F45AB3-DC7D-411A-BA10-68C4C3B3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Testes: regras, combinações e casos legítimos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E4AC6933-27FF-48A3-B683-7E9BF398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544">
            <a:extLst xmlns:a="http://schemas.openxmlformats.org/drawingml/2006/main">
              <a:ext uri="{FF2B5EF4-FFF2-40B4-BE49-F238E27FC236}">
                <a16:creationId xmlns:a16="http://schemas.microsoft.com/office/drawing/2014/main" id="{DC6BAD0E-5CFB-4FC1-A374-0687FDFA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5048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544</a:t>
            </a:r>
          </a:p>
        </p:txBody>
      </p:sp>
      <p:sp>
        <p:nvSpPr>
          <p:cNvPr id="4" name="casos inventariados">
            <a:extLst xmlns:a="http://schemas.openxmlformats.org/drawingml/2006/main">
              <a:ext uri="{FF2B5EF4-FFF2-40B4-BE49-F238E27FC236}">
                <a16:creationId xmlns:a16="http://schemas.microsoft.com/office/drawing/2014/main" id="{E90C9372-C0E7-440D-B928-11D273B8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casos inventariados</a:t>
            </a:r>
          </a:p>
        </p:txBody>
      </p:sp>
      <p:sp>
        <p:nvSpPr>
          <p:cNvPr id="5" name="230 funções em 28 suítes">
            <a:extLst xmlns:a="http://schemas.openxmlformats.org/drawingml/2006/main">
              <a:ext uri="{FF2B5EF4-FFF2-40B4-BE49-F238E27FC236}">
                <a16:creationId xmlns:a16="http://schemas.microsoft.com/office/drawing/2014/main" id="{8BCA95D1-DEB5-4F0C-A40F-B2CD03F7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230 funções em 28 suítes</a:t>
            </a:r>
          </a:p>
        </p:txBody>
      </p:sp>
      <p:sp>
        <p:nvSpPr>
          <p:cNvPr id="6" name="Construção com apoio de IA">
            <a:extLst xmlns:a="http://schemas.openxmlformats.org/drawingml/2006/main">
              <a:ext uri="{FF2B5EF4-FFF2-40B4-BE49-F238E27FC236}">
                <a16:creationId xmlns:a16="http://schemas.microsoft.com/office/drawing/2014/main" id="{D5B4CDBC-EAEC-4DB8-B47D-1A363AE4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71650"/>
            <a:ext cx="502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Construção com apoio de IA</a:t>
            </a:r>
          </a:p>
        </p:txBody>
      </p:sp>
      <p:sp>
        <p:nvSpPr>
          <p:cNvPr id="7" name="Variações das 13 regras e suas combinações&#10;&#10;Cenários le">
            <a:extLst xmlns:a="http://schemas.openxmlformats.org/drawingml/2006/main">
              <a:ext uri="{FF2B5EF4-FFF2-40B4-BE49-F238E27FC236}">
                <a16:creationId xmlns:a16="http://schemas.microsoft.com/office/drawing/2014/main" id="{975E1BCD-1E36-4C6E-9E3A-07FC4EBD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50292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Variações das 13 regras e suas combinações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Cenários legítimos que podem gerar alertas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Limiares, histórico, concorrência e reenvios</a:t>
            </a:r>
          </a:p>
        </p:txBody>
      </p:sp>
      <p:sp>
        <p:nvSpPr>
          <p:cNvPr id="8" name="A proposta inicial tinha cerca de 400 testes. O inventá">
            <a:extLst xmlns:a="http://schemas.openxmlformats.org/drawingml/2006/main">
              <a:ext uri="{FF2B5EF4-FFF2-40B4-BE49-F238E27FC236}">
                <a16:creationId xmlns:a16="http://schemas.microsoft.com/office/drawing/2014/main" id="{0CBACB9A-EA33-45C2-AF37-DDD512E0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A proposta inicial tinha cerca de 400 testes. O inventário atual expandiu esse conjunto.</a:t>
            </a:r>
          </a:p>
          <a:p xmlns:a="http://schemas.openxmlformats.org/drawingml/2006/main">
            <a: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Cobertura de cenários não comprova eficácia em fraude real.</a:t>
            </a:r>
          </a:p>
        </p:txBody>
      </p:sp>
    </p:spTree>
    <p:extLst>
      <p:ext uri="{BB962C8B-B14F-4D97-AF65-F5344CB8AC3E}">
        <p14:creationId xmlns:p14="http://schemas.microsoft.com/office/powerpoint/2010/main" val="235150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NN: análise da rede de transações Pix">
            <a:extLst xmlns:a="http://schemas.openxmlformats.org/drawingml/2006/main">
              <a:ext uri="{FF2B5EF4-FFF2-40B4-BE49-F238E27FC236}">
                <a16:creationId xmlns:a16="http://schemas.microsoft.com/office/drawing/2014/main" id="{F5DD3D35-27E6-4457-9758-E2FDBF81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GNN: análise da rede de transações Pix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5AB72E0E-7582-4A49-A3BD-0092567F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Graph Neural Network">
            <a:extLst xmlns:a="http://schemas.openxmlformats.org/drawingml/2006/main">
              <a:ext uri="{FF2B5EF4-FFF2-40B4-BE49-F238E27FC236}">
                <a16:creationId xmlns:a16="http://schemas.microsoft.com/office/drawing/2014/main" id="{6FE67396-D3A3-4053-B209-9878D2D4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Graph Neural Network</a:t>
            </a:r>
          </a:p>
        </p:txBody>
      </p:sp>
      <p:sp>
        <p:nvSpPr>
          <p:cNvPr id="4" name="A rede agrega sinais dos vizinhos e considera&#10;a direção">
            <a:extLst xmlns:a="http://schemas.openxmlformats.org/drawingml/2006/main">
              <a:ext uri="{FF2B5EF4-FFF2-40B4-BE49-F238E27FC236}">
                <a16:creationId xmlns:a16="http://schemas.microsoft.com/office/drawing/2014/main" id="{0DB0EFC5-241B-492E-BE74-CF04F2EE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 rede agrega sinais dos vizinhos e considera</a:t>
            </a:r>
          </a:p>
          <a:p xmlns:a="http://schemas.openxmlformats.org/drawingml/2006/main">
            <a: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 direção e o tempo das transações.</a:t>
            </a:r>
          </a:p>
        </p:txBody>
      </p:sp>
      <p:sp>
        <p:nvSpPr>
          <p:cNvPr id="5" name="Exemplo de padrão investigado">
            <a:extLst xmlns:a="http://schemas.openxmlformats.org/drawingml/2006/main">
              <a:ext uri="{FF2B5EF4-FFF2-40B4-BE49-F238E27FC236}">
                <a16:creationId xmlns:a16="http://schemas.microsoft.com/office/drawing/2014/main" id="{B4E9A392-3EB1-4176-BAEF-6BCC28F1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9636B"/>
                </a:solidFill>
                <a:latin typeface="Arial"/>
                <a:ea typeface="Arial"/>
                <a:cs typeface="Arial"/>
              </a:rPr>
              <a:t>Exemplo de padrão investigado</a:t>
            </a:r>
          </a:p>
        </p:txBody>
      </p:sp>
      <p:sp>
        <p:nvSpPr>
          <p:cNvPr id="6" name="Vários recebimentos seguidos de repasses rápidos">
            <a:extLst xmlns:a="http://schemas.openxmlformats.org/drawingml/2006/main">
              <a:ext uri="{FF2B5EF4-FFF2-40B4-BE49-F238E27FC236}">
                <a16:creationId xmlns:a16="http://schemas.microsoft.com/office/drawing/2014/main" id="{6A71423B-31DD-4E6C-811A-1A1563A3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Vários recebimentos seguidos de repasses rápidos</a:t>
            </a:r>
          </a:p>
        </p:txBody>
      </p:sp>
      <p:sp>
        <p:nvSpPr>
          <p:cNvPr id="7" name="Integração atual em shadow: observa e registra, sem alt">
            <a:extLst xmlns:a="http://schemas.openxmlformats.org/drawingml/2006/main">
              <a:ext uri="{FF2B5EF4-FFF2-40B4-BE49-F238E27FC236}">
                <a16:creationId xmlns:a16="http://schemas.microsoft.com/office/drawing/2014/main" id="{97DED097-281B-4DB3-90ED-3FCC5E2D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7E80"/>
                </a:solidFill>
                <a:latin typeface="Arial"/>
                <a:ea typeface="Arial"/>
                <a:cs typeface="Arial"/>
              </a:rPr>
              <a:t>Integração atual em shadow: observa e registra, sem alterar decisões.</a:t>
            </a:r>
          </a:p>
        </p:txBody>
      </p:sp>
    </p:spTree>
    <p:extLst>
      <p:ext uri="{BB962C8B-B14F-4D97-AF65-F5344CB8AC3E}">
        <p14:creationId xmlns:p14="http://schemas.microsoft.com/office/powerpoint/2010/main" val="641569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alidação da GNN e controle de falsos positivos">
            <a:extLst xmlns:a="http://schemas.openxmlformats.org/drawingml/2006/main">
              <a:ext uri="{FF2B5EF4-FFF2-40B4-BE49-F238E27FC236}">
                <a16:creationId xmlns:a16="http://schemas.microsoft.com/office/drawing/2014/main" id="{0BFAB2DD-2E1A-418B-A4DD-61BA788C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Validação da GNN e controle de falsos positivos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6A577D69-36A2-466C-B59F-C10A5879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Meta inicial: menos de 10% de falsos positivos">
            <a:extLst xmlns:a="http://schemas.openxmlformats.org/drawingml/2006/main">
              <a:ext uri="{FF2B5EF4-FFF2-40B4-BE49-F238E27FC236}">
                <a16:creationId xmlns:a16="http://schemas.microsoft.com/office/drawing/2014/main" id="{01C781CC-BC3A-4A73-9C5D-B32CF423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Meta inicial: menos de 10% de falsos positivos</a:t>
            </a:r>
          </a:p>
        </p:txBody>
      </p:sp>
      <p:sp>
        <p:nvSpPr>
          <p:cNvPr id="4" name="Critério experimental mais rigoroso">
            <a:extLst xmlns:a="http://schemas.openxmlformats.org/drawingml/2006/main">
              <a:ext uri="{FF2B5EF4-FFF2-40B4-BE49-F238E27FC236}">
                <a16:creationId xmlns:a16="http://schemas.microsoft.com/office/drawing/2014/main" id="{AF2CFD41-4661-41C6-B13F-CFB3982D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Critério experimental mais rigoroso</a:t>
            </a:r>
          </a:p>
        </p:txBody>
      </p:sp>
      <p:sp>
        <p:nvSpPr>
          <p:cNvPr id="5" name="Até 1% no limite superior nominal de 95% para novos&#10;des">
            <a:extLst xmlns:a="http://schemas.openxmlformats.org/drawingml/2006/main">
              <a:ext uri="{FF2B5EF4-FFF2-40B4-BE49-F238E27FC236}">
                <a16:creationId xmlns:a16="http://schemas.microsoft.com/office/drawing/2014/main" id="{4FD8E99C-5F0E-479B-8936-19920FB6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10820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Até 1% no limite superior nominal de 95% para novos</a:t>
            </a:r>
          </a:p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desafios em legítimos aprováveis, com ganho de detecção.</a:t>
            </a:r>
          </a:p>
        </p:txBody>
      </p:sp>
      <p:sp>
        <p:nvSpPr>
          <p:cNvPr id="6" name="Teste sintético mais recente">
            <a:extLst xmlns:a="http://schemas.openxmlformats.org/drawingml/2006/main">
              <a:ext uri="{FF2B5EF4-FFF2-40B4-BE49-F238E27FC236}">
                <a16:creationId xmlns:a16="http://schemas.microsoft.com/office/drawing/2014/main" id="{0E32187D-AD05-4BC8-A239-8512CD2F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Teste sintético mais recente</a:t>
            </a:r>
          </a:p>
        </p:txBody>
      </p:sp>
      <p:sp>
        <p:nvSpPr>
          <p:cNvPr id="7" name="1.800 cenários de teste&#10;0 / 1.064 legítimos com 2FA adi">
            <a:extLst xmlns:a="http://schemas.openxmlformats.org/drawingml/2006/main">
              <a:ext uri="{FF2B5EF4-FFF2-40B4-BE49-F238E27FC236}">
                <a16:creationId xmlns:a16="http://schemas.microsoft.com/office/drawing/2014/main" id="{E07A5901-FE86-4916-9000-AF6B6251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628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1.800 cenários de teste</a:t>
            </a:r>
          </a:p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0 / 1.064 legítimos com 2FA adicional*</a:t>
            </a:r>
          </a:p>
        </p:txBody>
      </p:sp>
      <p:sp>
        <p:nvSpPr>
          <p:cNvPr id="8" name="Contribuição&#10;segue desativada">
            <a:extLst xmlns:a="http://schemas.openxmlformats.org/drawingml/2006/main">
              <a:ext uri="{FF2B5EF4-FFF2-40B4-BE49-F238E27FC236}">
                <a16:creationId xmlns:a16="http://schemas.microsoft.com/office/drawing/2014/main" id="{5B63DB62-888C-46F1-95A9-4630619E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71975"/>
            <a:ext cx="3600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Contribuição</a:t>
            </a:r>
          </a:p>
          <a:p xmlns:a="http://schemas.openxmlformats.org/drawingml/2006/main">
            <a: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segue desativada</a:t>
            </a:r>
          </a:p>
        </p:txBody>
      </p:sp>
      <p:sp>
        <p:nvSpPr>
          <p:cNvPr id="9" name="* Em cada um dos três candidatos com calibração conserv">
            <a:extLst xmlns:a="http://schemas.openxmlformats.org/drawingml/2006/main">
              <a:ext uri="{FF2B5EF4-FFF2-40B4-BE49-F238E27FC236}">
                <a16:creationId xmlns:a16="http://schemas.microsoft.com/office/drawing/2014/main" id="{FA966159-00E3-47FF-86D0-B13C0531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* Em cada um dos três candidatos com calibração conservadora. Dados sintéticos.</a:t>
            </a:r>
          </a:p>
          <a:p xmlns:a="http://schemas.openxmlformats.org/drawingml/2006/main">
            <a: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Os critérios numéricos passaram, mas o relatório não autorizou ativação automática.</a:t>
            </a:r>
          </a:p>
        </p:txBody>
      </p:sp>
    </p:spTree>
    <p:extLst>
      <p:ext uri="{BB962C8B-B14F-4D97-AF65-F5344CB8AC3E}">
        <p14:creationId xmlns:p14="http://schemas.microsoft.com/office/powerpoint/2010/main" val="1942754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monstração: decisão com justificativas">
            <a:extLst xmlns:a="http://schemas.openxmlformats.org/drawingml/2006/main">
              <a:ext uri="{FF2B5EF4-FFF2-40B4-BE49-F238E27FC236}">
                <a16:creationId xmlns:a16="http://schemas.microsoft.com/office/drawing/2014/main" id="{0740DFCA-A3FC-42C3-8AE9-7E50BDF2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Demonstração: decisão com justificativas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954AC7F9-F05C-437C-88EF-F4B10D13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0">
            <a:extLst xmlns:a="http://schemas.openxmlformats.org/drawingml/2006/main">
              <a:ext uri="{FF2B5EF4-FFF2-40B4-BE49-F238E27FC236}">
                <a16:creationId xmlns:a16="http://schemas.microsoft.com/office/drawing/2014/main" id="{AE5E1084-AB85-4FE7-B4D0-BCA78308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" name="Aprovado">
            <a:extLst xmlns:a="http://schemas.openxmlformats.org/drawingml/2006/main">
              <a:ext uri="{FF2B5EF4-FFF2-40B4-BE49-F238E27FC236}">
                <a16:creationId xmlns:a16="http://schemas.microsoft.com/office/drawing/2014/main" id="{C6441795-9DEE-4F84-873E-4CCD2B9E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Aprovado</a:t>
            </a:r>
          </a:p>
        </p:txBody>
      </p:sp>
      <p:sp>
        <p:nvSpPr>
          <p:cNvPr id="5" name="Pagamento normal">
            <a:extLst xmlns:a="http://schemas.openxmlformats.org/drawingml/2006/main">
              <a:ext uri="{FF2B5EF4-FFF2-40B4-BE49-F238E27FC236}">
                <a16:creationId xmlns:a16="http://schemas.microsoft.com/office/drawing/2014/main" id="{1AE4D084-25DA-4269-80A1-B19C860B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Pagamento normal</a:t>
            </a:r>
          </a:p>
        </p:txBody>
      </p:sp>
      <p:sp>
        <p:nvSpPr>
          <p:cNvPr id="6" name="35">
            <a:extLst xmlns:a="http://schemas.openxmlformats.org/drawingml/2006/main">
              <a:ext uri="{FF2B5EF4-FFF2-40B4-BE49-F238E27FC236}">
                <a16:creationId xmlns:a16="http://schemas.microsoft.com/office/drawing/2014/main" id="{49C4FDE5-1EFA-48A0-8395-A6FB4128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7" name="Solicitar 2FA">
            <a:extLst xmlns:a="http://schemas.openxmlformats.org/drawingml/2006/main">
              <a:ext uri="{FF2B5EF4-FFF2-40B4-BE49-F238E27FC236}">
                <a16:creationId xmlns:a16="http://schemas.microsoft.com/office/drawing/2014/main" id="{257975A0-34D4-4798-A58C-4CAB7A10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Solicitar 2FA</a:t>
            </a:r>
          </a:p>
        </p:txBody>
      </p:sp>
      <p:sp>
        <p:nvSpPr>
          <p:cNvPr id="8" name="Aparelho e destino novos">
            <a:extLst xmlns:a="http://schemas.openxmlformats.org/drawingml/2006/main">
              <a:ext uri="{FF2B5EF4-FFF2-40B4-BE49-F238E27FC236}">
                <a16:creationId xmlns:a16="http://schemas.microsoft.com/office/drawing/2014/main" id="{A59F9629-2EC5-4FFB-A57F-D9A51E4A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3862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Aparelho e destino novos</a:t>
            </a:r>
          </a:p>
        </p:txBody>
      </p:sp>
      <p:sp>
        <p:nvSpPr>
          <p:cNvPr id="9" name="95">
            <a:extLst xmlns:a="http://schemas.openxmlformats.org/drawingml/2006/main">
              <a:ext uri="{FF2B5EF4-FFF2-40B4-BE49-F238E27FC236}">
                <a16:creationId xmlns:a16="http://schemas.microsoft.com/office/drawing/2014/main" id="{63F51391-96B0-471E-BEE5-7AD3CFA7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8120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10" name="Rejeitado">
            <a:extLst xmlns:a="http://schemas.openxmlformats.org/drawingml/2006/main">
              <a:ext uri="{FF2B5EF4-FFF2-40B4-BE49-F238E27FC236}">
                <a16:creationId xmlns:a16="http://schemas.microsoft.com/office/drawing/2014/main" id="{EC1A2C5F-C941-48FA-8E42-B4BC323A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Rejeitado</a:t>
            </a:r>
          </a:p>
        </p:txBody>
      </p:sp>
      <p:sp>
        <p:nvSpPr>
          <p:cNvPr id="11" name="Perfil + destino desconhecido">
            <a:extLst xmlns:a="http://schemas.openxmlformats.org/drawingml/2006/main">
              <a:ext uri="{FF2B5EF4-FFF2-40B4-BE49-F238E27FC236}">
                <a16:creationId xmlns:a16="http://schemas.microsoft.com/office/drawing/2014/main" id="{1296733F-7C08-47FA-A2D2-F98187D5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3862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Perfil + destino desconhecido</a:t>
            </a:r>
          </a:p>
        </p:txBody>
      </p:sp>
      <p:sp>
        <p:nvSpPr>
          <p:cNvPr id="12" name="Resposta com motivos. Decisão e evidências persistidas.">
            <a:extLst xmlns:a="http://schemas.openxmlformats.org/drawingml/2006/main">
              <a:ext uri="{FF2B5EF4-FFF2-40B4-BE49-F238E27FC236}">
                <a16:creationId xmlns:a16="http://schemas.microsoft.com/office/drawing/2014/main" id="{F0C84D12-346E-4731-BEA7-0255DAD1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Resposta com motivos. Decisão e evidências persistidas.</a:t>
            </a:r>
          </a:p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O mesmo ID e conteúdo preservam a análise original.</a:t>
            </a:r>
          </a:p>
        </p:txBody>
      </p:sp>
    </p:spTree>
    <p:extLst>
      <p:ext uri="{BB962C8B-B14F-4D97-AF65-F5344CB8AC3E}">
        <p14:creationId xmlns:p14="http://schemas.microsoft.com/office/powerpoint/2010/main" val="384260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erguntas">
            <a:extLst xmlns:a="http://schemas.openxmlformats.org/drawingml/2006/main">
              <a:ext uri="{FF2B5EF4-FFF2-40B4-BE49-F238E27FC236}">
                <a16:creationId xmlns:a16="http://schemas.microsoft.com/office/drawing/2014/main" id="{61ABDE3F-ADEF-41C7-BFC8-272976BE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Perguntas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28B9ABAB-9D4F-4B3D-B0C4-CDD6C4ED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E7D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3 minutos">
            <a:extLst xmlns:a="http://schemas.openxmlformats.org/drawingml/2006/main">
              <a:ext uri="{FF2B5EF4-FFF2-40B4-BE49-F238E27FC236}">
                <a16:creationId xmlns:a16="http://schemas.microsoft.com/office/drawing/2014/main" id="{A2AF95AF-3116-407F-80AD-B775E555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B9E7DC"/>
                </a:solidFill>
                <a:latin typeface="Arial"/>
                <a:ea typeface="Arial"/>
                <a:cs typeface="Arial"/>
              </a:rPr>
              <a:t>3 minutos</a:t>
            </a:r>
          </a:p>
        </p:txBody>
      </p:sp>
      <p:sp>
        <p:nvSpPr>
          <p:cNvPr id="4" name="Pix Antifraude">
            <a:extLst xmlns:a="http://schemas.openxmlformats.org/drawingml/2006/main">
              <a:ext uri="{FF2B5EF4-FFF2-40B4-BE49-F238E27FC236}">
                <a16:creationId xmlns:a16="http://schemas.microsoft.com/office/drawing/2014/main" id="{D4C0AF8D-4AD4-49E8-B563-230BF6A4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Pix Antifraude</a:t>
            </a:r>
          </a:p>
        </p:txBody>
      </p:sp>
      <p:sp>
        <p:nvSpPr>
          <p:cNvPr id="5" name="Vinícius Guimarães Drexler e Wallace Dametto Teixeira">
            <a:extLst xmlns:a="http://schemas.openxmlformats.org/drawingml/2006/main">
              <a:ext uri="{FF2B5EF4-FFF2-40B4-BE49-F238E27FC236}">
                <a16:creationId xmlns:a16="http://schemas.microsoft.com/office/drawing/2014/main" id="{952F266B-BEC4-4635-BEBB-EC23865B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E7DC"/>
                </a:solidFill>
                <a:latin typeface="Arial"/>
                <a:ea typeface="Arial"/>
                <a:cs typeface="Arial"/>
              </a:rPr>
              <a:t>Vinícius Guimarães Drexler e Wallace Dametto Teixeira</a:t>
            </a:r>
          </a:p>
        </p:txBody>
      </p:sp>
    </p:spTree>
    <p:extLst>
      <p:ext uri="{BB962C8B-B14F-4D97-AF65-F5344CB8AC3E}">
        <p14:creationId xmlns:p14="http://schemas.microsoft.com/office/powerpoint/2010/main" val="749208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2026-10-18T12:21:00.9560000Z</dcterms:created>
  <dcterms:modified xsi:type="dcterms:W3CDTF">2026-10-18T12:21:00.9560000Z</dcterms:modified>
</coreProperties>
</file>