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75c0e361c29478d" /><Relationship Type="http://schemas.openxmlformats.org/officeDocument/2006/relationships/extended-properties" Target="/docProps/app.xml" Id="R864b0f52e4a848a7" /><Relationship Type="http://schemas.openxmlformats.org/officeDocument/2006/relationships/officeDocument" Target="/ppt/presentation.xml" Id="R3b590a59435e49c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e3fe4a2e41c4628"/>
  </p:sldMasterIdLst>
  <p:notesMasterIdLst>
    <p:notesMasterId xmlns:r="http://schemas.openxmlformats.org/officeDocument/2006/relationships" r:id="Rfdf8762e31c44bbd"/>
  </p:notesMasterIdLst>
  <p:sldIdLst>
    <p:sldId xmlns:r="http://schemas.openxmlformats.org/officeDocument/2006/relationships" id="256" r:id="R96d85d09c1874115"/>
    <p:sldId xmlns:r="http://schemas.openxmlformats.org/officeDocument/2006/relationships" id="257" r:id="R6fb6f90e2e554197"/>
    <p:sldId xmlns:r="http://schemas.openxmlformats.org/officeDocument/2006/relationships" id="258" r:id="R9de251a2098340c2"/>
    <p:sldId xmlns:r="http://schemas.openxmlformats.org/officeDocument/2006/relationships" id="259" r:id="R94710a32db544e3a"/>
    <p:sldId xmlns:r="http://schemas.openxmlformats.org/officeDocument/2006/relationships" id="260" r:id="R5785491ff4b34809"/>
    <p:sldId xmlns:r="http://schemas.openxmlformats.org/officeDocument/2006/relationships" id="261" r:id="Rc07c6858cf87432c"/>
    <p:sldId xmlns:r="http://schemas.openxmlformats.org/officeDocument/2006/relationships" id="262" r:id="R6174c9101b1047c6"/>
    <p:sldId xmlns:r="http://schemas.openxmlformats.org/officeDocument/2006/relationships" id="263" r:id="Rcabc024e4c3344c2"/>
    <p:sldId xmlns:r="http://schemas.openxmlformats.org/officeDocument/2006/relationships" id="264" r:id="R8ebd9915fa964f0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dee16d5b68a40bb" /><Relationship Type="http://schemas.openxmlformats.org/officeDocument/2006/relationships/slideMaster" Target="/ppt/slideMasters/slideMaster1.xml" Id="R2e3fe4a2e41c4628" /><Relationship Type="http://schemas.openxmlformats.org/officeDocument/2006/relationships/notesMaster" Target="/ppt/notesMasters/notesMaster1.xml" Id="Rfdf8762e31c44bbd" /><Relationship Type="http://schemas.openxmlformats.org/officeDocument/2006/relationships/presProps" Target="/ppt/presProps.xml" Id="Re5a54ece2b8d4b64" /><Relationship Type="http://schemas.openxmlformats.org/officeDocument/2006/relationships/tableStyles" Target="/ppt/tableStyles.xml" Id="R800e5e22f6ec4588" /><Relationship Type="http://schemas.openxmlformats.org/officeDocument/2006/relationships/slide" Target="/ppt/slides/slide1.xml" Id="R96d85d09c1874115" /><Relationship Type="http://schemas.openxmlformats.org/officeDocument/2006/relationships/slide" Target="/ppt/slides/slide2.xml" Id="R6fb6f90e2e554197" /><Relationship Type="http://schemas.openxmlformats.org/officeDocument/2006/relationships/slide" Target="/ppt/slides/slide3.xml" Id="R9de251a2098340c2" /><Relationship Type="http://schemas.openxmlformats.org/officeDocument/2006/relationships/slide" Target="/ppt/slides/slide4.xml" Id="R94710a32db544e3a" /><Relationship Type="http://schemas.openxmlformats.org/officeDocument/2006/relationships/slide" Target="/ppt/slides/slide5.xml" Id="R5785491ff4b34809" /><Relationship Type="http://schemas.openxmlformats.org/officeDocument/2006/relationships/slide" Target="/ppt/slides/slide6.xml" Id="Rc07c6858cf87432c" /><Relationship Type="http://schemas.openxmlformats.org/officeDocument/2006/relationships/slide" Target="/ppt/slides/slide7.xml" Id="R6174c9101b1047c6" /><Relationship Type="http://schemas.openxmlformats.org/officeDocument/2006/relationships/slide" Target="/ppt/slides/slide8.xml" Id="Rcabc024e4c3344c2" /><Relationship Type="http://schemas.openxmlformats.org/officeDocument/2006/relationships/slide" Target="/ppt/slides/slide9.xml" Id="R8ebd9915fa964f0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00c7b548e5348d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aab19401e00493d" /><Relationship Type="http://schemas.openxmlformats.org/officeDocument/2006/relationships/notesMaster" Target="/ppt/notesMasters/notesMaster1.xml" Id="R6936517be0554e8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c5c2706677a42cf" /><Relationship Type="http://schemas.openxmlformats.org/officeDocument/2006/relationships/notesMaster" Target="/ppt/notesMasters/notesMaster1.xml" Id="R82f5e4abcec346d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32604ed6ca045e5" /><Relationship Type="http://schemas.openxmlformats.org/officeDocument/2006/relationships/notesMaster" Target="/ppt/notesMasters/notesMaster1.xml" Id="R388d199413aa418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196123f4f3740ab" /><Relationship Type="http://schemas.openxmlformats.org/officeDocument/2006/relationships/notesMaster" Target="/ppt/notesMasters/notesMaster1.xml" Id="Re534e570262a4c5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91c44fe00cf4231" /><Relationship Type="http://schemas.openxmlformats.org/officeDocument/2006/relationships/notesMaster" Target="/ppt/notesMasters/notesMaster1.xml" Id="R6c87f715594f43d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6600d483e294a9a" /><Relationship Type="http://schemas.openxmlformats.org/officeDocument/2006/relationships/notesMaster" Target="/ppt/notesMasters/notesMaster1.xml" Id="R64747c0d9d864c8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48d4a94c6054733" /><Relationship Type="http://schemas.openxmlformats.org/officeDocument/2006/relationships/notesMaster" Target="/ppt/notesMasters/notesMaster1.xml" Id="Rab4d75385de9489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5f5270a757a4967" /><Relationship Type="http://schemas.openxmlformats.org/officeDocument/2006/relationships/notesMaster" Target="/ppt/notesMasters/notesMaster1.xml" Id="Rd20e84b165ff4f0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b1510fce4744b83" /><Relationship Type="http://schemas.openxmlformats.org/officeDocument/2006/relationships/notesMaster" Target="/ppt/notesMasters/notesMaster1.xml" Id="Rbe6bf3a7dc7b4dd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45 segundos.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Somos Vinícius Guimarães Drexler e Wallace Dametto Teixeira. Construímos uma API de análise de risco de Pix com Python, FastAPI e PostgreSQL. Escolhemos uma estrutura parecida com a do primeiro desafio por seguir boas práticas de organização e facilitar a manutenção do código. Essa organização separa as responsabilidades e permite ajustar regras e evoluir o projeto com mais clareza.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 Relato da equipe sobre a estrutura do primeiro desafio</a:t>
            </a:r>
          </a:p>
          <a:p xmlns:a="http://schemas.openxmlformats.org/drawingml/2006/main">
            <a:r>
              <a:t>docs/architecture.md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60 segundos.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Começamos pela pesquisa de práticas consolidadas de prevenção a fraude. As referências documentadas são Stripe Radar e Adyen, instituições de pagamentos, além das orientações do Banco Central. Essa pesquisa ajudou a separar sinais de risco, pontuação e ação. Implementamos 13 regras. Elas cobrem frequência e montante acumulado, primeiro Pix e ausência de histórico aprovado, idade das contas, destinatário desconhecido, desvio de valor, dispositivos, horário e possível duplicidade. Como exemplos, a sexta tentativa ou R$ 30 mil acumulados em dez minutos são limites fortes definidos pelo projeto. Um aparelho novo soma 20 pontos, conforme valor e histórico. Esses pesos e limites são escolhas do protótipo. O sistema bancário integrador ainda precisa aplicar os limites regulatórios efetivos da conta. A API não consulta esses limites nem comprova conformidade regulatória.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 docs/risk-scoring.md</a:t>
            </a:r>
          </a:p>
          <a:p xmlns:a="http://schemas.openxmlformats.org/drawingml/2006/main">
            <a:r>
              <a:t>config/risk-policy.json</a:t>
            </a:r>
          </a:p>
          <a:p xmlns:a="http://schemas.openxmlformats.org/drawingml/2006/main">
            <a:r>
              <a:t>https://docs.stripe.com/radar/transaction-risk-prevention</a:t>
            </a:r>
          </a:p>
          <a:p xmlns:a="http://schemas.openxmlformats.org/drawingml/2006/main">
            <a:r>
              <a:t>https://docs.adyen.com/risk-management/configure-your-risk-profile/</a:t>
            </a:r>
          </a:p>
          <a:p xmlns:a="http://schemas.openxmlformats.org/drawingml/2006/main">
            <a:r>
              <a:t>https://www.bcb.gov.br/estabilidadefinanceira/exibenormativo?numero=512&amp;tipo=Instru%C3%A7%C3%A3o+Normativa+BCB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55 segundos.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Criamos o campo risk_score para reunir a contribuição das anormalidades encontradas. A soma é ponderada, tem tetos por fator e fica limitada a 100. Isso evita contar repetidamente sinais muito parecidos. Por exemplo, aparelho desconhecido soma 20 e destinatário desconhecido soma 15, totalizando 35 e solicitando autenticação adicional. A partir de 30 há 2FA. A partir de 80, a rejeição por score exige pelo menos dois fatores positivos. Um fator isolado de perfil, mesmo com 80 pontos, pede 2FA. Os limites fortes têm prioridade. A ausência de referência aprovada também exige 2FA a partir de R$ 500, independentemente dos pesos. A finalidade é reduzir intervenções indevidas sem deixar de tratar sinais combinados. O score é heurístico: 80 pontos não significa 80% de probabilidade de fraude.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 docs/risk-scoring.md</a:t>
            </a:r>
          </a:p>
          <a:p xmlns:a="http://schemas.openxmlformats.org/drawingml/2006/main">
            <a:r>
              <a:t>config/risk-policy.json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50 segundos.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análise de histórico se tornou indispensável porque um sinal isolado pode representar uma situação legítima. Trocar de celular não significa fraude. O mesmo vale para um novo destinatário ou um pagamento alto que já é habitual naquela relação. Por isso usamos aprovações anteriores para construir o perfil de valores e reconhecer aparelhos e destinatários. Rejeições e pendências contam como tentativas, mas não elevam a referência de valores. A confiança contextual pode zerar somente o desvio de perfil quando há amostra suficiente e o valor é compatível com a relação. Ela exige cinco amostras do pagador, três da relação em dois dias distintos e valor entre 50% e 200% da mediana. Os demais controles continuam ativos. Também excluímos dados futuros e evitamos que um reenvio conte duas vezes.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 docs/contextual-trust.md</a:t>
            </a:r>
          </a:p>
          <a:p xmlns:a="http://schemas.openxmlformats.org/drawingml/2006/main">
            <a:r>
              <a:t>docs/risk-scoring.md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45 segundos.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Construímos a suíte com apoio de IA, incluindo casos positivos, negativos e combinações de regras. A proposta inicial tinha cerca de 400 testes. O projeto evoluiu e a documentação registra 691 casos aprovados na execução integrada com a contribuição da GNN ativa. Incluímos variações das 13 regras, limiares de decisão, histórico e situações legítimas que poderiam gerar alertas indevidos, como troca de aparelho e pagamentos habituais. A suíte também verifica concorrência, persistência, reenvios e a contribuição do grafo. Os testes da GNN confirmam que ela pode solicitar 2FA, sem somar pontos ao risk_score nem rejeitar sozinha. Essa cobertura verifica o comportamento do protótipo e não estima a taxa de erro em operações reais.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 docs/testes-politicas.md</a:t>
            </a:r>
          </a:p>
          <a:p xmlns:a="http://schemas.openxmlformats.org/drawingml/2006/main">
            <a:r>
              <a:t>docs/gnn-contribution.md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50 segundos.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Além das regras, implementamos uma Graph Neural Network simplificada, inspirada em GraphSAGE. Ela analisa a rede relacional das transações, incluindo titulares e aparelhos, com direção e tempo dos eventos. O objetivo é investigar padrões como vários recebimentos seguidos de repasses rápidos. Duas camadas agregam informações dos vizinhos. O treinamento usa PyTorch e a inferência usa NumPy. A GNN já está integrada às decisões no modo contribute do protótipo. Se as demais camadas aprovarem a operação, uma avaliação completa com score do grafo a partir de 75,0977 pode exigir 2FA. O grafo não rejeita sozinho, não remove restrições anteriores e não soma pontos ao risk_score. O untrust_score representa sua saída separada, sem probabilidade calibrada de fraude.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 docs/graph-v2-api.md</a:t>
            </a:r>
          </a:p>
          <a:p xmlns:a="http://schemas.openxmlformats.org/drawingml/2006/main">
            <a:r>
              <a:t>docs/gnn-contribution.md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60 segundos.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meta inicial da equipe era menos de 10% de falsos positivos. Na validação adotamos critérios mais rigorosos para propostas de 2FA adicional, incluindo limite superior nominal de 95% de até 1% para novos desafios em legítimos aprováveis e ganho nos positivos sintéticos. Ampliamos os casos legítimos difíceis e separamos treino, validação, calibração e teste. A calibração conservadora usou 900 cenários e o teste usou 1.800. Os três candidatos passaram nos critérios numéricos em duas propostas, com zero desafios indevidos entre 1.064 legítimos aprováveis por candidato. Com base nessa avaliação, a equipe habilitou a contribuição no protótipo, usando o candidato da semente 42 e o limiar congelado. A integração vincula modelo, corte e política aos artefatos avaliados. Os resultados são sintéticos e não garantem erro zero em operações reais.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 models/false-positive-v1/conservative/evaluation.metrics.json</a:t>
            </a:r>
          </a:p>
          <a:p xmlns:a="http://schemas.openxmlformats.org/drawingml/2006/main">
            <a:r>
              <a:t>docs/gnn-contribution.md</a:t>
            </a:r>
          </a:p>
          <a:p xmlns:a="http://schemas.openxmlformats.org/drawingml/2006/main">
            <a:r>
              <a:t>config/gnn-contribution.json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35 segundos.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demonstração apresenta decisões com score 0, 35 e 95. O caso normal recebe aprovação. Aparelho e destinatário desconhecidos somam 35 e exigem 2FA. Desvio de perfil e destinatário desconhecido somam 95 e levam à rejeição pelas regras. A GNN complementa essa análise: mesmo com risk_score zero, o grafo pode pedir 2FA quando seu sinal relacional alcança o corte e satisfaz as condições da integração. A resposta explica os motivos e o banco preserva as evidências. Repetir o mesmo ID e conteúdo mantém a decisão original. Agora abrimos para perguntas.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 scripts/demo_score.py</a:t>
            </a:r>
          </a:p>
          <a:p xmlns:a="http://schemas.openxmlformats.org/drawingml/2006/main">
            <a:r>
              <a:t>docs/gnn-contribution.md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180 segundos.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Reservar três minutos para perguntas, sem exibir o tempo no slide. Sobre a arquitetura, explicar a escolha de estrutura semelhante à do primeiro desafio e a facilidade de manutenção. Sobre a GNN, explicar que contribute é o padrão do protótipo: score relacional a partir de 75,0977 pode elevar aprovação para 2FA, sem rejeitar sozinho ou alterar o risk_score. O limiar fica vinculado ao modelo e à política avaliados. Sobre testes, a documentação registra 691 casos aprovados com contribuição ativa. Sobre os resultados, esclarecer que os cenários de validação são sintéticos. O motor solicita 2FA, mas não executa autenticação nem confirma liquidação.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 docs/gnn-contribution.md</a:t>
            </a:r>
          </a:p>
          <a:p xmlns:a="http://schemas.openxmlformats.org/drawingml/2006/main">
            <a:r>
              <a:t>docs/testes-politicas.md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9ef9d7200642a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d3f5f7c8f543c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9074acbf1347a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4864414fff488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895e64baf0497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2e4a72bfb944e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E7CA891-BDD5-4DCB-BB56-DF334894BF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18F8528-54A8-4BA2-91E3-93D6966EDC2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A61BC3A-0265-4238-AC56-3C79579C557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DC2D6D7-CC55-4EEA-A866-46608B10930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EDD9289-7E7B-4331-93B6-326C60454FC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0D3D03F-6540-48F7-AF9B-5F6D97125F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3F97E70-ED85-4831-92C0-ED7ECD9A920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DD0932E-793D-4971-A192-820F4DA63D8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82A2132-BEAE-42C7-A6B9-F13D0F94000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BABEDE7-7F0F-46FB-82E9-900C66C0C0F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1068d0075b741cd" /><Relationship Type="http://schemas.openxmlformats.org/officeDocument/2006/relationships/slideLayout" Target="/ppt/slideLayouts/slideLayout1.xml" Id="Rad0fab82d4c946fa" /><Relationship Type="http://schemas.openxmlformats.org/officeDocument/2006/relationships/slideLayout" Target="/ppt/slideLayouts/slideLayout2.xml" Id="Redcec64448fa4684" /><Relationship Type="http://schemas.openxmlformats.org/officeDocument/2006/relationships/slideLayout" Target="/ppt/slideLayouts/slideLayout3.xml" Id="R734c2deef9264ff1" /><Relationship Type="http://schemas.openxmlformats.org/officeDocument/2006/relationships/slideLayout" Target="/ppt/slideLayouts/slideLayout4.xml" Id="R63380614c86e4296" /><Relationship Type="http://schemas.openxmlformats.org/officeDocument/2006/relationships/slideLayout" Target="/ppt/slideLayouts/slideLayout5.xml" Id="R34d339c69e834c6f" /><Relationship Type="http://schemas.openxmlformats.org/officeDocument/2006/relationships/slideLayout" Target="/ppt/slideLayouts/slideLayout6.xml" Id="Rdd3e1fb2ee34418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d0fab82d4c946fa"/>
    <p:sldLayoutId xmlns:r="http://schemas.openxmlformats.org/officeDocument/2006/relationships" id="2147483650" r:id="Redcec64448fa4684"/>
    <p:sldLayoutId xmlns:r="http://schemas.openxmlformats.org/officeDocument/2006/relationships" id="2147483651" r:id="R734c2deef9264ff1"/>
    <p:sldLayoutId xmlns:r="http://schemas.openxmlformats.org/officeDocument/2006/relationships" id="2147483652" r:id="R63380614c86e4296"/>
    <p:sldLayoutId xmlns:r="http://schemas.openxmlformats.org/officeDocument/2006/relationships" id="2147483653" r:id="R34d339c69e834c6f"/>
    <p:sldLayoutId xmlns:r="http://schemas.openxmlformats.org/officeDocument/2006/relationships" id="2147483654" r:id="Rdd3e1fb2ee34418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3a255e93524569" /><Relationship Type="http://schemas.openxmlformats.org/officeDocument/2006/relationships/notesSlide" Target="/ppt/notesSlides/notesSlide1.xml" Id="R44500bc6ea1c4de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b092be6838411f" /><Relationship Type="http://schemas.openxmlformats.org/officeDocument/2006/relationships/notesSlide" Target="/ppt/notesSlides/notesSlide2.xml" Id="Rbc858c589ed0444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523f9a8ff94d46" /><Relationship Type="http://schemas.openxmlformats.org/officeDocument/2006/relationships/notesSlide" Target="/ppt/notesSlides/notesSlide3.xml" Id="R5f8fe3fa82d748c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54c5b434d246e2" /><Relationship Type="http://schemas.openxmlformats.org/officeDocument/2006/relationships/notesSlide" Target="/ppt/notesSlides/notesSlide4.xml" Id="R20b3695b2c60471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7bd6799b714018" /><Relationship Type="http://schemas.openxmlformats.org/officeDocument/2006/relationships/notesSlide" Target="/ppt/notesSlides/notesSlide5.xml" Id="Ra7752a196dd2413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cb3f495c774c02" /><Relationship Type="http://schemas.openxmlformats.org/officeDocument/2006/relationships/notesSlide" Target="/ppt/notesSlides/notesSlide6.xml" Id="R0f645e34719a40b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43d4dabc72401b" /><Relationship Type="http://schemas.openxmlformats.org/officeDocument/2006/relationships/notesSlide" Target="/ppt/notesSlides/notesSlide7.xml" Id="R5c56526d6dea476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e2d8dc652b54386" /><Relationship Type="http://schemas.openxmlformats.org/officeDocument/2006/relationships/notesSlide" Target="/ppt/notesSlides/notesSlide8.xml" Id="Re17ed9ae4b234c9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66963618b774b75" /><Relationship Type="http://schemas.openxmlformats.org/officeDocument/2006/relationships/notesSlide" Target="/ppt/notesSlides/notesSlide9.xml" Id="Re438f9ffe620484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Pix Antifraude: estrutura do projeto">
            <a:extLst xmlns:a="http://schemas.openxmlformats.org/drawingml/2006/main">
              <a:ext uri="{FF2B5EF4-FFF2-40B4-BE49-F238E27FC236}">
                <a16:creationId xmlns:a16="http://schemas.microsoft.com/office/drawing/2014/main" id="{FFC4A147-D5CD-4A34-A3AE-C85E0DC83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2E36"/>
                </a:solidFill>
                <a:latin typeface="Arial"/>
                <a:ea typeface="Arial"/>
                <a:cs typeface="Arial"/>
              </a:rPr>
              <a:t>Pix Antifraude: estrutura do projeto</a:t>
            </a:r>
          </a:p>
        </p:txBody>
      </p:sp>
      <p:sp>
        <p:nvSpPr>
          <p:cNvPr id="2" name="01">
            <a:extLst xmlns:a="http://schemas.openxmlformats.org/drawingml/2006/main">
              <a:ext uri="{FF2B5EF4-FFF2-40B4-BE49-F238E27FC236}">
                <a16:creationId xmlns:a16="http://schemas.microsoft.com/office/drawing/2014/main" id="{D62E9971-D488-42C5-A49F-3464F7CF7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238875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9636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9" name="Vinícius Guimarães Drexler e Wallace Dametto Teixeira">
            <a:extLst xmlns:a="http://schemas.openxmlformats.org/drawingml/2006/main">
              <a:ext uri="{FF2B5EF4-FFF2-40B4-BE49-F238E27FC236}">
                <a16:creationId xmlns:a16="http://schemas.microsoft.com/office/drawing/2014/main" id="{C4A2C3FC-9412-42CA-BB2D-058551FEC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981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9636B"/>
                </a:solidFill>
                <a:latin typeface="Arial"/>
                <a:ea typeface="Arial"/>
                <a:cs typeface="Arial"/>
              </a:rPr>
              <a:t>Vinícius Guimarães Drexler e Wallace Dametto Teixeira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AB2C94-17C9-4880-B2A5-1B7F1DE2D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10382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>
                <a:solidFill>
                  <a:srgbClr val="112E36"/>
                </a:solidFill>
                <a:latin typeface="Arial"/>
                <a:ea typeface="Arial"/>
                <a:cs typeface="Arial"/>
              </a:defRPr>
            </a:defPPr>
            <a:lvl1pPr>
              <a:defRPr sz="285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1pPr>
            <a:lvl2pPr>
              <a:defRPr sz="285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2pPr>
            <a:lvl3pPr>
              <a:defRPr sz="285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3pPr>
            <a:lvl4pPr>
              <a:defRPr sz="285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4pPr>
            <a:lvl5pPr>
              <a:defRPr sz="285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5pPr>
            <a:lvl6pPr>
              <a:defRPr sz="285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6pPr>
            <a:lvl7pPr>
              <a:defRPr sz="285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7pPr>
            <a:lvl8pPr>
              <a:defRPr sz="285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8pPr>
            <a:lvl9pPr>
              <a:defRPr sz="285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>
                <a:solidFill>
                  <a:srgbClr val="112E36"/>
                </a:solidFill>
                <a:latin typeface="Arial"/>
                <a:ea typeface="Arial"/>
                <a:cs typeface="Arial"/>
              </a:defRPr>
            </a:pPr>
            <a:r>
              <a:rPr sz="2850">
                <a:solidFill>
                  <a:srgbClr val="112E36"/>
                </a:solidFill>
                <a:latin typeface="Arial"/>
                <a:ea typeface="Arial"/>
                <a:cs typeface="Arial"/>
              </a:rPr>
              <a:t>Escolhemos uma estrutura parecida com a do primeiro desafio por seguir boas práticas de organização e facilitar a manutenção do código.</a:t>
            </a:r>
          </a:p>
        </p:txBody>
      </p:sp>
    </p:spTree>
    <p:extLst>
      <p:ext uri="{BB962C8B-B14F-4D97-AF65-F5344CB8AC3E}">
        <p14:creationId xmlns:p14="http://schemas.microsoft.com/office/powerpoint/2010/main" val="185413954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Regras: pesquisa e implementação">
            <a:extLst xmlns:a="http://schemas.openxmlformats.org/drawingml/2006/main">
              <a:ext uri="{FF2B5EF4-FFF2-40B4-BE49-F238E27FC236}">
                <a16:creationId xmlns:a16="http://schemas.microsoft.com/office/drawing/2014/main" id="{E6B75144-B629-4147-90DA-45A38F695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2E36"/>
                </a:solidFill>
                <a:latin typeface="Arial"/>
                <a:ea typeface="Arial"/>
                <a:cs typeface="Arial"/>
              </a:rPr>
              <a:t>Regras: pesquisa e implementação</a:t>
            </a:r>
          </a:p>
        </p:txBody>
      </p:sp>
      <p:sp>
        <p:nvSpPr>
          <p:cNvPr id="2" name="02">
            <a:extLst xmlns:a="http://schemas.openxmlformats.org/drawingml/2006/main">
              <a:ext uri="{FF2B5EF4-FFF2-40B4-BE49-F238E27FC236}">
                <a16:creationId xmlns:a16="http://schemas.microsoft.com/office/drawing/2014/main" id="{16C54D96-C8D8-4CE1-858F-C74E04F9F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238875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9636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Referências: Stripe Radar, Adyen e orientações do Banco">
            <a:extLst xmlns:a="http://schemas.openxmlformats.org/drawingml/2006/main">
              <a:ext uri="{FF2B5EF4-FFF2-40B4-BE49-F238E27FC236}">
                <a16:creationId xmlns:a16="http://schemas.microsoft.com/office/drawing/2014/main" id="{371734B9-427F-4490-B65A-7A4EC3514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49636B"/>
                </a:solidFill>
                <a:latin typeface="Arial"/>
                <a:ea typeface="Arial"/>
                <a:cs typeface="Arial"/>
              </a:rPr>
              <a:t>Referências: Stripe Radar, Adyen e orientações do Banco Central</a:t>
            </a:r>
          </a:p>
        </p:txBody>
      </p:sp>
      <p:sp>
        <p:nvSpPr>
          <p:cNvPr id="4" name="Frequência e montante">
            <a:extLst xmlns:a="http://schemas.openxmlformats.org/drawingml/2006/main">
              <a:ext uri="{FF2B5EF4-FFF2-40B4-BE49-F238E27FC236}">
                <a16:creationId xmlns:a16="http://schemas.microsoft.com/office/drawing/2014/main" id="{5424A225-6E59-4065-8EE6-581F6A94B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0275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E80"/>
                </a:solidFill>
                <a:latin typeface="Arial"/>
                <a:ea typeface="Arial"/>
                <a:cs typeface="Arial"/>
              </a:rPr>
              <a:t>Frequência e montante</a:t>
            </a:r>
          </a:p>
        </p:txBody>
      </p:sp>
      <p:sp>
        <p:nvSpPr>
          <p:cNvPr id="5" name="6ª tentativa ou ≥ R$ 30 mil em 10 min: rejeição">
            <a:extLst xmlns:a="http://schemas.openxmlformats.org/drawingml/2006/main">
              <a:ext uri="{FF2B5EF4-FFF2-40B4-BE49-F238E27FC236}">
                <a16:creationId xmlns:a16="http://schemas.microsoft.com/office/drawing/2014/main" id="{A155C851-24D1-4BB4-B785-78039AD53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200275"/>
            <a:ext cx="731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12E36"/>
                </a:solidFill>
                <a:latin typeface="Arial"/>
                <a:ea typeface="Arial"/>
                <a:cs typeface="Arial"/>
              </a:rPr>
              <a:t>6ª tentativa ou ≥ R$ 30 mil em 10 min: rejeição</a:t>
            </a:r>
          </a:p>
        </p:txBody>
      </p:sp>
      <p:sp>
        <p:nvSpPr>
          <p:cNvPr id="6" name="Histórico e perfil">
            <a:extLst xmlns:a="http://schemas.openxmlformats.org/drawingml/2006/main">
              <a:ext uri="{FF2B5EF4-FFF2-40B4-BE49-F238E27FC236}">
                <a16:creationId xmlns:a16="http://schemas.microsoft.com/office/drawing/2014/main" id="{645356EA-3D82-4F7B-B882-CD4BE188F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67025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E80"/>
                </a:solidFill>
                <a:latin typeface="Arial"/>
                <a:ea typeface="Arial"/>
                <a:cs typeface="Arial"/>
              </a:rPr>
              <a:t>Histórico e perfil</a:t>
            </a:r>
          </a:p>
        </p:txBody>
      </p:sp>
      <p:sp>
        <p:nvSpPr>
          <p:cNvPr id="7" name="Primeiro Pix, referência insuficiente e desvio de valor">
            <a:extLst xmlns:a="http://schemas.openxmlformats.org/drawingml/2006/main">
              <a:ext uri="{FF2B5EF4-FFF2-40B4-BE49-F238E27FC236}">
                <a16:creationId xmlns:a16="http://schemas.microsoft.com/office/drawing/2014/main" id="{8D04E9C8-1429-4AE5-A69F-E8E272DE7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867025"/>
            <a:ext cx="731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12E36"/>
                </a:solidFill>
                <a:latin typeface="Arial"/>
                <a:ea typeface="Arial"/>
                <a:cs typeface="Arial"/>
              </a:rPr>
              <a:t>Primeiro Pix, referência insuficiente e desvio de valor</a:t>
            </a:r>
          </a:p>
        </p:txBody>
      </p:sp>
      <p:sp>
        <p:nvSpPr>
          <p:cNvPr id="8" name="Contas e destinatário">
            <a:extLst xmlns:a="http://schemas.openxmlformats.org/drawingml/2006/main">
              <a:ext uri="{FF2B5EF4-FFF2-40B4-BE49-F238E27FC236}">
                <a16:creationId xmlns:a16="http://schemas.microsoft.com/office/drawing/2014/main" id="{B741BA53-240E-4C0D-AB67-3FC75F434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33775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E80"/>
                </a:solidFill>
                <a:latin typeface="Arial"/>
                <a:ea typeface="Arial"/>
                <a:cs typeface="Arial"/>
              </a:rPr>
              <a:t>Contas e destinatário</a:t>
            </a:r>
          </a:p>
        </p:txBody>
      </p:sp>
      <p:sp>
        <p:nvSpPr>
          <p:cNvPr id="9" name="Idade da origem, destino recente ou desconhecido">
            <a:extLst xmlns:a="http://schemas.openxmlformats.org/drawingml/2006/main">
              <a:ext uri="{FF2B5EF4-FFF2-40B4-BE49-F238E27FC236}">
                <a16:creationId xmlns:a16="http://schemas.microsoft.com/office/drawing/2014/main" id="{30221B34-07AE-4E4E-8FCF-AE18A41E3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533775"/>
            <a:ext cx="731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12E36"/>
                </a:solidFill>
                <a:latin typeface="Arial"/>
                <a:ea typeface="Arial"/>
                <a:cs typeface="Arial"/>
              </a:rPr>
              <a:t>Idade da origem, destino recente ou desconhecido</a:t>
            </a:r>
          </a:p>
        </p:txBody>
      </p:sp>
      <p:sp>
        <p:nvSpPr>
          <p:cNvPr id="10" name="Dispositivos e contexto">
            <a:extLst xmlns:a="http://schemas.openxmlformats.org/drawingml/2006/main">
              <a:ext uri="{FF2B5EF4-FFF2-40B4-BE49-F238E27FC236}">
                <a16:creationId xmlns:a16="http://schemas.microsoft.com/office/drawing/2014/main" id="{7D4EC726-806F-424E-85F1-02F10420D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00525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E80"/>
                </a:solidFill>
                <a:latin typeface="Arial"/>
                <a:ea typeface="Arial"/>
                <a:cs typeface="Arial"/>
              </a:rPr>
              <a:t>Dispositivos e contexto</a:t>
            </a:r>
          </a:p>
        </p:txBody>
      </p:sp>
      <p:sp>
        <p:nvSpPr>
          <p:cNvPr id="11" name="Aparelho novo, compartilhado, diversidade e horário">
            <a:extLst xmlns:a="http://schemas.openxmlformats.org/drawingml/2006/main">
              <a:ext uri="{FF2B5EF4-FFF2-40B4-BE49-F238E27FC236}">
                <a16:creationId xmlns:a16="http://schemas.microsoft.com/office/drawing/2014/main" id="{1C505824-7512-42DB-8CC9-D72DDA648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200525"/>
            <a:ext cx="731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12E36"/>
                </a:solidFill>
                <a:latin typeface="Arial"/>
                <a:ea typeface="Arial"/>
                <a:cs typeface="Arial"/>
              </a:rPr>
              <a:t>Aparelho novo, compartilhado, diversidade e horário</a:t>
            </a:r>
          </a:p>
        </p:txBody>
      </p:sp>
      <p:sp>
        <p:nvSpPr>
          <p:cNvPr id="12" name="Possível duplicidade">
            <a:extLst xmlns:a="http://schemas.openxmlformats.org/drawingml/2006/main">
              <a:ext uri="{FF2B5EF4-FFF2-40B4-BE49-F238E27FC236}">
                <a16:creationId xmlns:a16="http://schemas.microsoft.com/office/drawing/2014/main" id="{088EAF66-892A-4C35-A55E-A443EEF00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67275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E80"/>
                </a:solidFill>
                <a:latin typeface="Arial"/>
                <a:ea typeface="Arial"/>
                <a:cs typeface="Arial"/>
              </a:rPr>
              <a:t>Possível duplicidade</a:t>
            </a:r>
          </a:p>
        </p:txBody>
      </p:sp>
      <p:sp>
        <p:nvSpPr>
          <p:cNvPr id="13" name="Mesma origem, destino e valor em até 120 segundos">
            <a:extLst xmlns:a="http://schemas.openxmlformats.org/drawingml/2006/main">
              <a:ext uri="{FF2B5EF4-FFF2-40B4-BE49-F238E27FC236}">
                <a16:creationId xmlns:a16="http://schemas.microsoft.com/office/drawing/2014/main" id="{914E9738-4B6E-48A5-B767-71B5FA102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867275"/>
            <a:ext cx="731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12E36"/>
                </a:solidFill>
                <a:latin typeface="Arial"/>
                <a:ea typeface="Arial"/>
                <a:cs typeface="Arial"/>
              </a:rPr>
              <a:t>Mesma origem, destino e valor em até 120 segundos</a:t>
            </a:r>
          </a:p>
        </p:txBody>
      </p:sp>
      <p:sp>
        <p:nvSpPr>
          <p:cNvPr id="14" name="13 regras. Pesos e limites do protótipo são definidos p">
            <a:extLst xmlns:a="http://schemas.openxmlformats.org/drawingml/2006/main">
              <a:ext uri="{FF2B5EF4-FFF2-40B4-BE49-F238E27FC236}">
                <a16:creationId xmlns:a16="http://schemas.microsoft.com/office/drawing/2014/main" id="{4A35D09A-8479-450B-BA7C-74A900E2D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43575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72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72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72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72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72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72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72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72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72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9636B"/>
                </a:solidFill>
                <a:latin typeface="Arial"/>
                <a:ea typeface="Arial"/>
                <a:cs typeface="Arial"/>
              </a:rPr>
              <a:t>13 regras. Pesos e limites do protótipo são definidos pela equipe.</a:t>
            </a:r>
          </a:p>
          <a:p xmlns:a="http://schemas.openxmlformats.org/drawingml/2006/main">
            <a:pPr>
              <a:buNone/>
              <a:defRPr sz="172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9636B"/>
                </a:solidFill>
                <a:latin typeface="Arial"/>
                <a:ea typeface="Arial"/>
                <a:cs typeface="Arial"/>
              </a:rPr>
              <a:t>Os limites regulatórios efetivos dependem do integrador bancário.</a:t>
            </a:r>
          </a:p>
        </p:txBody>
      </p:sp>
    </p:spTree>
    <p:extLst>
      <p:ext uri="{BB962C8B-B14F-4D97-AF65-F5344CB8AC3E}">
        <p14:creationId xmlns:p14="http://schemas.microsoft.com/office/powerpoint/2010/main" val="6998877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isk score: soma ponderada dos sinais">
            <a:extLst xmlns:a="http://schemas.openxmlformats.org/drawingml/2006/main">
              <a:ext uri="{FF2B5EF4-FFF2-40B4-BE49-F238E27FC236}">
                <a16:creationId xmlns:a16="http://schemas.microsoft.com/office/drawing/2014/main" id="{C740221C-1BC3-4A60-94B0-20609D864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2E36"/>
                </a:solidFill>
                <a:latin typeface="Arial"/>
                <a:ea typeface="Arial"/>
                <a:cs typeface="Arial"/>
              </a:rPr>
              <a:t>Risk score: soma ponderada dos sinais</a:t>
            </a:r>
          </a:p>
        </p:txBody>
      </p:sp>
      <p:sp>
        <p:nvSpPr>
          <p:cNvPr id="2" name="03">
            <a:extLst xmlns:a="http://schemas.openxmlformats.org/drawingml/2006/main">
              <a:ext uri="{FF2B5EF4-FFF2-40B4-BE49-F238E27FC236}">
                <a16:creationId xmlns:a16="http://schemas.microsoft.com/office/drawing/2014/main" id="{D8F90739-1C8E-41A0-AD28-80F8B9D3E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238875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9636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risk_score = soma dos pontos, com tetos por fator e lim">
            <a:extLst xmlns:a="http://schemas.openxmlformats.org/drawingml/2006/main">
              <a:ext uri="{FF2B5EF4-FFF2-40B4-BE49-F238E27FC236}">
                <a16:creationId xmlns:a16="http://schemas.microsoft.com/office/drawing/2014/main" id="{6A4FE257-329B-4C69-9FCC-AB940B34E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90675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32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32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32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32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32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32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32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32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32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32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49636B"/>
                </a:solidFill>
                <a:latin typeface="Arial"/>
                <a:ea typeface="Arial"/>
                <a:cs typeface="Arial"/>
              </a:rPr>
              <a:t>risk_score = soma dos pontos, com tetos por fator e limite de 100</a:t>
            </a:r>
          </a:p>
        </p:txBody>
      </p:sp>
      <p:sp>
        <p:nvSpPr>
          <p:cNvPr id="4" name="20 + 15 = 35">
            <a:extLst xmlns:a="http://schemas.openxmlformats.org/drawingml/2006/main">
              <a:ext uri="{FF2B5EF4-FFF2-40B4-BE49-F238E27FC236}">
                <a16:creationId xmlns:a16="http://schemas.microsoft.com/office/drawing/2014/main" id="{2FB0D48A-423B-4E9C-9E21-492A70358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62225"/>
            <a:ext cx="10763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540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540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540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540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540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540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540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540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540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540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540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87E80"/>
                </a:solidFill>
                <a:latin typeface="Arial"/>
                <a:ea typeface="Arial"/>
                <a:cs typeface="Arial"/>
              </a:rPr>
              <a:t>20 + 15 = 35</a:t>
            </a:r>
          </a:p>
        </p:txBody>
      </p:sp>
      <p:sp>
        <p:nvSpPr>
          <p:cNvPr id="5" name="Aparelho desconhecido + destinatário desconhecido: soli">
            <a:extLst xmlns:a="http://schemas.openxmlformats.org/drawingml/2006/main">
              <a:ext uri="{FF2B5EF4-FFF2-40B4-BE49-F238E27FC236}">
                <a16:creationId xmlns:a16="http://schemas.microsoft.com/office/drawing/2014/main" id="{CACF1DAF-EA7D-46B3-89D4-4D00D0FB8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14725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12E36"/>
                </a:solidFill>
                <a:latin typeface="Arial"/>
                <a:ea typeface="Arial"/>
                <a:cs typeface="Arial"/>
              </a:rPr>
              <a:t>Aparelho desconhecido + destinatário desconhecido: solicitar 2FA</a:t>
            </a:r>
          </a:p>
        </p:txBody>
      </p:sp>
      <p:sp>
        <p:nvSpPr>
          <p:cNvPr id="6" name="≥ 30">
            <a:extLst xmlns:a="http://schemas.openxmlformats.org/drawingml/2006/main">
              <a:ext uri="{FF2B5EF4-FFF2-40B4-BE49-F238E27FC236}">
                <a16:creationId xmlns:a16="http://schemas.microsoft.com/office/drawing/2014/main" id="{1DBB8469-FB55-4899-BBEC-0A19260C7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48175"/>
            <a:ext cx="247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2E36"/>
                </a:solidFill>
                <a:latin typeface="Arial"/>
                <a:ea typeface="Arial"/>
                <a:cs typeface="Arial"/>
              </a:rPr>
              <a:t>≥ 30</a:t>
            </a:r>
          </a:p>
        </p:txBody>
      </p:sp>
      <p:sp>
        <p:nvSpPr>
          <p:cNvPr id="7" name="≥ 80">
            <a:extLst xmlns:a="http://schemas.openxmlformats.org/drawingml/2006/main">
              <a:ext uri="{FF2B5EF4-FFF2-40B4-BE49-F238E27FC236}">
                <a16:creationId xmlns:a16="http://schemas.microsoft.com/office/drawing/2014/main" id="{76FE2CE5-56D2-4279-89C1-B1D6F8D7D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448175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2E36"/>
                </a:solidFill>
                <a:latin typeface="Arial"/>
                <a:ea typeface="Arial"/>
                <a:cs typeface="Arial"/>
              </a:rPr>
              <a:t>≥ 80</a:t>
            </a:r>
          </a:p>
        </p:txBody>
      </p:sp>
      <p:sp>
        <p:nvSpPr>
          <p:cNvPr id="8" name="Limites fortes">
            <a:extLst xmlns:a="http://schemas.openxmlformats.org/drawingml/2006/main">
              <a:ext uri="{FF2B5EF4-FFF2-40B4-BE49-F238E27FC236}">
                <a16:creationId xmlns:a16="http://schemas.microsoft.com/office/drawing/2014/main" id="{4A7D757D-37C1-4992-AB58-316D01CDD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4448175"/>
            <a:ext cx="35909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75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775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775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775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775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775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775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775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775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775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775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12E36"/>
                </a:solidFill>
                <a:latin typeface="Arial"/>
                <a:ea typeface="Arial"/>
                <a:cs typeface="Arial"/>
              </a:rPr>
              <a:t>Limites fortes</a:t>
            </a:r>
          </a:p>
        </p:txBody>
      </p:sp>
      <p:sp>
        <p:nvSpPr>
          <p:cNvPr id="9" name="Autenticação adicional">
            <a:extLst xmlns:a="http://schemas.openxmlformats.org/drawingml/2006/main">
              <a:ext uri="{FF2B5EF4-FFF2-40B4-BE49-F238E27FC236}">
                <a16:creationId xmlns:a16="http://schemas.microsoft.com/office/drawing/2014/main" id="{798072D8-241B-4859-B8D0-9EF8A0F67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8635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12E36"/>
                </a:solidFill>
                <a:latin typeface="Arial"/>
                <a:ea typeface="Arial"/>
                <a:cs typeface="Arial"/>
              </a:rPr>
              <a:t>Autenticação adicional</a:t>
            </a:r>
          </a:p>
        </p:txBody>
      </p:sp>
      <p:sp>
        <p:nvSpPr>
          <p:cNvPr id="10" name="Rejeição com ao menos&#10;dois fatores positivos">
            <a:extLst xmlns:a="http://schemas.openxmlformats.org/drawingml/2006/main">
              <a:ext uri="{FF2B5EF4-FFF2-40B4-BE49-F238E27FC236}">
                <a16:creationId xmlns:a16="http://schemas.microsoft.com/office/drawing/2014/main" id="{8794F26A-E26D-40D6-8326-402E4524A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5086350"/>
            <a:ext cx="3286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12E36"/>
                </a:solidFill>
                <a:latin typeface="Arial"/>
                <a:ea typeface="Arial"/>
                <a:cs typeface="Arial"/>
              </a:rPr>
              <a:t>Rejeição com ao menos</a:t>
            </a:r>
          </a:p>
          <a:p xmlns:a="http://schemas.openxmlformats.org/drawingml/2006/main">
            <a:pPr>
              <a:buNone/>
              <a:defRPr sz="18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12E36"/>
                </a:solidFill>
                <a:latin typeface="Arial"/>
                <a:ea typeface="Arial"/>
                <a:cs typeface="Arial"/>
              </a:rPr>
              <a:t>dois fatores positivos</a:t>
            </a:r>
          </a:p>
        </p:txBody>
      </p:sp>
      <p:sp>
        <p:nvSpPr>
          <p:cNvPr id="11" name="Rejeição prioritária">
            <a:extLst xmlns:a="http://schemas.openxmlformats.org/drawingml/2006/main">
              <a:ext uri="{FF2B5EF4-FFF2-40B4-BE49-F238E27FC236}">
                <a16:creationId xmlns:a16="http://schemas.microsoft.com/office/drawing/2014/main" id="{ADA6649F-9943-44D4-A671-B4D8C0B04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5086350"/>
            <a:ext cx="35909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12E36"/>
                </a:solidFill>
                <a:latin typeface="Arial"/>
                <a:ea typeface="Arial"/>
                <a:cs typeface="Arial"/>
              </a:rPr>
              <a:t>Rejeição prioritária</a:t>
            </a:r>
          </a:p>
        </p:txBody>
      </p:sp>
      <p:sp>
        <p:nvSpPr>
          <p:cNvPr id="12" name="Sem referência aprovada: ≥ R$ 500 exige 2FA. Score não ">
            <a:extLst xmlns:a="http://schemas.openxmlformats.org/drawingml/2006/main">
              <a:ext uri="{FF2B5EF4-FFF2-40B4-BE49-F238E27FC236}">
                <a16:creationId xmlns:a16="http://schemas.microsoft.com/office/drawing/2014/main" id="{CE12549F-8BF5-4024-81E1-4273777B4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1057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65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65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65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65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65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65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65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65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65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65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9636B"/>
                </a:solidFill>
                <a:latin typeface="Arial"/>
                <a:ea typeface="Arial"/>
                <a:cs typeface="Arial"/>
              </a:rPr>
              <a:t>Sem referência aprovada: ≥ R$ 500 exige 2FA. Score não é probabilidade de fraude.</a:t>
            </a:r>
          </a:p>
        </p:txBody>
      </p:sp>
    </p:spTree>
    <p:extLst>
      <p:ext uri="{BB962C8B-B14F-4D97-AF65-F5344CB8AC3E}">
        <p14:creationId xmlns:p14="http://schemas.microsoft.com/office/powerpoint/2010/main" val="10115417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Histórico: contexto para reduzir falsos positivos">
            <a:extLst xmlns:a="http://schemas.openxmlformats.org/drawingml/2006/main">
              <a:ext uri="{FF2B5EF4-FFF2-40B4-BE49-F238E27FC236}">
                <a16:creationId xmlns:a16="http://schemas.microsoft.com/office/drawing/2014/main" id="{704F1809-226A-4685-A6DD-CF1A365D4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2E36"/>
                </a:solidFill>
                <a:latin typeface="Arial"/>
                <a:ea typeface="Arial"/>
                <a:cs typeface="Arial"/>
              </a:rPr>
              <a:t>Histórico: contexto para reduzir falsos positivos</a:t>
            </a:r>
          </a:p>
        </p:txBody>
      </p:sp>
      <p:sp>
        <p:nvSpPr>
          <p:cNvPr id="2" name="04">
            <a:extLst xmlns:a="http://schemas.openxmlformats.org/drawingml/2006/main">
              <a:ext uri="{FF2B5EF4-FFF2-40B4-BE49-F238E27FC236}">
                <a16:creationId xmlns:a16="http://schemas.microsoft.com/office/drawing/2014/main" id="{6472811A-5C09-443F-92FF-D7EA24A8D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238875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9636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A mesma anormalidade pode ter uma explicação legítima">
            <a:extLst xmlns:a="http://schemas.openxmlformats.org/drawingml/2006/main">
              <a:ext uri="{FF2B5EF4-FFF2-40B4-BE49-F238E27FC236}">
                <a16:creationId xmlns:a16="http://schemas.microsoft.com/office/drawing/2014/main" id="{A73154DF-1F49-4F07-A77F-A47972BFD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7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47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47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47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47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47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47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47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47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47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47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49636B"/>
                </a:solidFill>
                <a:latin typeface="Arial"/>
                <a:ea typeface="Arial"/>
                <a:cs typeface="Arial"/>
              </a:rPr>
              <a:t>A mesma anormalidade pode ter uma explicação legítima</a:t>
            </a:r>
          </a:p>
        </p:txBody>
      </p:sp>
      <p:sp>
        <p:nvSpPr>
          <p:cNvPr id="4" name="Troca de celular">
            <a:extLst xmlns:a="http://schemas.openxmlformats.org/drawingml/2006/main">
              <a:ext uri="{FF2B5EF4-FFF2-40B4-BE49-F238E27FC236}">
                <a16:creationId xmlns:a16="http://schemas.microsoft.com/office/drawing/2014/main" id="{E9B770A5-58A1-40F9-BACF-00C2CBF73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24125"/>
            <a:ext cx="485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55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55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55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55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55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55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55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55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55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55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55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87E80"/>
                </a:solidFill>
                <a:latin typeface="Arial"/>
                <a:ea typeface="Arial"/>
                <a:cs typeface="Arial"/>
              </a:rPr>
              <a:t>Troca de celular</a:t>
            </a:r>
          </a:p>
        </p:txBody>
      </p:sp>
      <p:sp>
        <p:nvSpPr>
          <p:cNvPr id="5" name="Pagamento alto habitual">
            <a:extLst xmlns:a="http://schemas.openxmlformats.org/drawingml/2006/main">
              <a:ext uri="{FF2B5EF4-FFF2-40B4-BE49-F238E27FC236}">
                <a16:creationId xmlns:a16="http://schemas.microsoft.com/office/drawing/2014/main" id="{EE2534D0-94C7-42FA-AC6E-5ED246DB9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24125"/>
            <a:ext cx="5124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55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55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55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55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55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55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55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55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55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55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55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87E80"/>
                </a:solidFill>
                <a:latin typeface="Arial"/>
                <a:ea typeface="Arial"/>
                <a:cs typeface="Arial"/>
              </a:rPr>
              <a:t>Pagamento alto habitual</a:t>
            </a:r>
          </a:p>
        </p:txBody>
      </p:sp>
      <p:sp>
        <p:nvSpPr>
          <p:cNvPr id="6" name="Aparelho novo pede análise&#10;do valor e do histórico.">
            <a:extLst xmlns:a="http://schemas.openxmlformats.org/drawingml/2006/main">
              <a:ext uri="{FF2B5EF4-FFF2-40B4-BE49-F238E27FC236}">
                <a16:creationId xmlns:a16="http://schemas.microsoft.com/office/drawing/2014/main" id="{048A0CE0-7408-4186-91D4-613DD8EAD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4810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25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25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25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25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25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25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25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25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25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12E36"/>
                </a:solidFill>
                <a:latin typeface="Arial"/>
                <a:ea typeface="Arial"/>
                <a:cs typeface="Arial"/>
              </a:rPr>
              <a:t>Aparelho novo pede análise</a:t>
            </a:r>
          </a:p>
          <a:p xmlns:a="http://schemas.openxmlformats.org/drawingml/2006/main">
            <a:pPr>
              <a:buNone/>
              <a:defRPr sz="225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12E36"/>
                </a:solidFill>
                <a:latin typeface="Arial"/>
                <a:ea typeface="Arial"/>
                <a:cs typeface="Arial"/>
              </a:rPr>
              <a:t>do valor e do histórico.</a:t>
            </a:r>
          </a:p>
        </p:txBody>
      </p:sp>
      <p:sp>
        <p:nvSpPr>
          <p:cNvPr id="7" name="Confiança na relação pode zerar&#10;apenas o desvio de perf">
            <a:extLst xmlns:a="http://schemas.openxmlformats.org/drawingml/2006/main">
              <a:ext uri="{FF2B5EF4-FFF2-40B4-BE49-F238E27FC236}">
                <a16:creationId xmlns:a16="http://schemas.microsoft.com/office/drawing/2014/main" id="{6FC9B7D5-9AE0-4E00-9DAF-2C3938CD9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43250"/>
            <a:ext cx="51244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25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25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25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25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25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25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25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25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25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12E36"/>
                </a:solidFill>
                <a:latin typeface="Arial"/>
                <a:ea typeface="Arial"/>
                <a:cs typeface="Arial"/>
              </a:rPr>
              <a:t>Confiança na relação pode zerar</a:t>
            </a:r>
          </a:p>
          <a:p xmlns:a="http://schemas.openxmlformats.org/drawingml/2006/main">
            <a:pPr>
              <a:buNone/>
              <a:defRPr sz="225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12E36"/>
                </a:solidFill>
                <a:latin typeface="Arial"/>
                <a:ea typeface="Arial"/>
                <a:cs typeface="Arial"/>
              </a:rPr>
              <a:t>apenas o desvio de perfil.</a:t>
            </a:r>
          </a:p>
        </p:txBody>
      </p:sp>
      <p:sp>
        <p:nvSpPr>
          <p:cNvPr id="8" name="O perfil usa somente aprovações anteriores.&#10;Pendências ">
            <a:extLst xmlns:a="http://schemas.openxmlformats.org/drawingml/2006/main">
              <a:ext uri="{FF2B5EF4-FFF2-40B4-BE49-F238E27FC236}">
                <a16:creationId xmlns:a16="http://schemas.microsoft.com/office/drawing/2014/main" id="{8AC97D26-A6A2-4261-AF78-706CE2F17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108204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12E36"/>
                </a:solidFill>
                <a:latin typeface="Arial"/>
                <a:ea typeface="Arial"/>
                <a:cs typeface="Arial"/>
              </a:rPr>
              <a:t>O perfil usa somente aprovações anteriores.</a:t>
            </a:r>
          </a:p>
          <a:p xmlns:a="http://schemas.openxmlformats.org/drawingml/2006/main">
            <a:pPr>
              <a:buNone/>
              <a:defRPr sz="21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12E36"/>
                </a:solidFill>
                <a:latin typeface="Arial"/>
                <a:ea typeface="Arial"/>
                <a:cs typeface="Arial"/>
              </a:rPr>
              <a:t>Pendências e rejeições contam como tentativas, sem elevar a referência.</a:t>
            </a:r>
          </a:p>
        </p:txBody>
      </p:sp>
      <p:sp>
        <p:nvSpPr>
          <p:cNvPr id="9" name="Reenvios não duplicam o histórico. Dados futuros ficam ">
            <a:extLst xmlns:a="http://schemas.openxmlformats.org/drawingml/2006/main">
              <a:ext uri="{FF2B5EF4-FFF2-40B4-BE49-F238E27FC236}">
                <a16:creationId xmlns:a16="http://schemas.microsoft.com/office/drawing/2014/main" id="{328F057F-FF91-4CFC-95E1-C13A7F95B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9636B"/>
                </a:solidFill>
                <a:latin typeface="Arial"/>
                <a:ea typeface="Arial"/>
                <a:cs typeface="Arial"/>
              </a:rPr>
              <a:t>Reenvios não duplicam o histórico. Dados futuros ficam fora da análise.</a:t>
            </a:r>
          </a:p>
        </p:txBody>
      </p:sp>
    </p:spTree>
    <p:extLst>
      <p:ext uri="{BB962C8B-B14F-4D97-AF65-F5344CB8AC3E}">
        <p14:creationId xmlns:p14="http://schemas.microsoft.com/office/powerpoint/2010/main" val="71473178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stes: regras, combinações e casos legítimos">
            <a:extLst xmlns:a="http://schemas.openxmlformats.org/drawingml/2006/main">
              <a:ext uri="{FF2B5EF4-FFF2-40B4-BE49-F238E27FC236}">
                <a16:creationId xmlns:a16="http://schemas.microsoft.com/office/drawing/2014/main" id="{F4F45AB3-DC7D-411A-BA10-68C4C3B3D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2E36"/>
                </a:solidFill>
                <a:latin typeface="Arial"/>
                <a:ea typeface="Arial"/>
                <a:cs typeface="Arial"/>
              </a:rPr>
              <a:t>Testes: regras, combinações e casos legítimos</a:t>
            </a:r>
          </a:p>
        </p:txBody>
      </p:sp>
      <p:sp>
        <p:nvSpPr>
          <p:cNvPr id="2" name="05">
            <a:extLst xmlns:a="http://schemas.openxmlformats.org/drawingml/2006/main">
              <a:ext uri="{FF2B5EF4-FFF2-40B4-BE49-F238E27FC236}">
                <a16:creationId xmlns:a16="http://schemas.microsoft.com/office/drawing/2014/main" id="{E4AC6933-27FF-48A3-B683-7E9BF398E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238875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9636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544">
            <a:extLst xmlns:a="http://schemas.openxmlformats.org/drawingml/2006/main">
              <a:ext uri="{FF2B5EF4-FFF2-40B4-BE49-F238E27FC236}">
                <a16:creationId xmlns:a16="http://schemas.microsoft.com/office/drawing/2014/main" id="{DC6BAD0E-5CFB-4FC1-A374-0687FDFA8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43075"/>
            <a:ext cx="50482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840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840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840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840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840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840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840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840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840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840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840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pPr>
            <a:r>
              <a:rPr sz="8400" b="1">
                <a:solidFill>
                  <a:srgbClr val="087E80"/>
                </a:solidFill>
                <a:latin typeface="Arial"/>
                <a:ea typeface="Arial"/>
                <a:cs typeface="Arial"/>
              </a:rPr>
              <a:t>691</a:t>
            </a:r>
          </a:p>
        </p:txBody>
      </p:sp>
      <p:sp>
        <p:nvSpPr>
          <p:cNvPr id="4" name="casos inventariados">
            <a:extLst xmlns:a="http://schemas.openxmlformats.org/drawingml/2006/main">
              <a:ext uri="{FF2B5EF4-FFF2-40B4-BE49-F238E27FC236}">
                <a16:creationId xmlns:a16="http://schemas.microsoft.com/office/drawing/2014/main" id="{E90C9372-C0E7-440D-B928-11D273B8D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523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55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55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55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55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55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55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55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55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55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55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55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2E36"/>
                </a:solidFill>
                <a:latin typeface="Arial"/>
                <a:ea typeface="Arial"/>
                <a:cs typeface="Arial"/>
              </a:rPr>
              <a:t>testes aprovados</a:t>
            </a:r>
          </a:p>
        </p:txBody>
      </p:sp>
      <p:sp>
        <p:nvSpPr>
          <p:cNvPr id="5" name="230 funções em 28 suítes">
            <a:extLst xmlns:a="http://schemas.openxmlformats.org/drawingml/2006/main">
              <a:ext uri="{FF2B5EF4-FFF2-40B4-BE49-F238E27FC236}">
                <a16:creationId xmlns:a16="http://schemas.microsoft.com/office/drawing/2014/main" id="{8BCA95D1-DEB5-4F0C-A40F-B2CD03F78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5238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49636B"/>
                </a:solidFill>
                <a:latin typeface="Arial"/>
                <a:ea typeface="Arial"/>
                <a:cs typeface="Arial"/>
              </a:rPr>
              <a:t>Suíte integrada com a GNN ativa</a:t>
            </a:r>
          </a:p>
        </p:txBody>
      </p:sp>
      <p:sp>
        <p:nvSpPr>
          <p:cNvPr id="6" name="Construção com apoio de IA">
            <a:extLst xmlns:a="http://schemas.openxmlformats.org/drawingml/2006/main">
              <a:ext uri="{FF2B5EF4-FFF2-40B4-BE49-F238E27FC236}">
                <a16:creationId xmlns:a16="http://schemas.microsoft.com/office/drawing/2014/main" id="{D5B4CDBC-EAEC-4DB8-B47D-1A363AE4F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71650"/>
            <a:ext cx="5029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75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475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475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475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475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475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475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475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475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475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475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12E36"/>
                </a:solidFill>
                <a:latin typeface="Arial"/>
                <a:ea typeface="Arial"/>
                <a:cs typeface="Arial"/>
              </a:rPr>
              <a:t>Construção com apoio de IA</a:t>
            </a:r>
          </a:p>
        </p:txBody>
      </p:sp>
      <p:sp>
        <p:nvSpPr>
          <p:cNvPr id="7" name="Variações das 13 regras e suas combinações&#10;&#10;Cenários le">
            <a:extLst xmlns:a="http://schemas.openxmlformats.org/drawingml/2006/main">
              <a:ext uri="{FF2B5EF4-FFF2-40B4-BE49-F238E27FC236}">
                <a16:creationId xmlns:a16="http://schemas.microsoft.com/office/drawing/2014/main" id="{975E1BCD-1E36-4C6E-9E3A-07FC4EBD4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67000"/>
            <a:ext cx="50292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12E36"/>
                </a:solidFill>
                <a:latin typeface="Arial"/>
                <a:ea typeface="Arial"/>
                <a:cs typeface="Arial"/>
              </a:rPr>
              <a:t>Variações das 13 regras e suas combinações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1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12E36"/>
                </a:solidFill>
                <a:latin typeface="Arial"/>
                <a:ea typeface="Arial"/>
                <a:cs typeface="Arial"/>
              </a:rPr>
              <a:t>Cenários legítimos que podem gerar alertas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1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12E36"/>
                </a:solidFill>
                <a:latin typeface="Arial"/>
                <a:ea typeface="Arial"/>
                <a:cs typeface="Arial"/>
              </a:rPr>
              <a:t>Limiares, histórico, concorrência e reenvios</a:t>
            </a:r>
          </a:p>
        </p:txBody>
      </p:sp>
      <p:sp>
        <p:nvSpPr>
          <p:cNvPr id="8" name="A proposta inicial tinha cerca de 400 testes. O inventá">
            <a:extLst xmlns:a="http://schemas.openxmlformats.org/drawingml/2006/main">
              <a:ext uri="{FF2B5EF4-FFF2-40B4-BE49-F238E27FC236}">
                <a16:creationId xmlns:a16="http://schemas.microsoft.com/office/drawing/2014/main" id="{0CBACB9A-EA33-45C2-AF37-DDD512E0C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1057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72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72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72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72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72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72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72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72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72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9636B"/>
                </a:solidFill>
                <a:latin typeface="Arial"/>
                <a:ea typeface="Arial"/>
                <a:cs typeface="Arial"/>
              </a:rPr>
              <a:t>A suíte evoluiu dos cerca de 400 testes iniciais para 691 casos.</a:t>
            </a:r>
          </a:p>
          <a:p xmlns:a="http://schemas.openxmlformats.org/drawingml/2006/main">
            <a:pPr>
              <a:buNone/>
              <a:defRPr sz="172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9636B"/>
                </a:solidFill>
                <a:latin typeface="Arial"/>
                <a:ea typeface="Arial"/>
                <a:cs typeface="Arial"/>
              </a:rPr>
              <a:t>Resultado documentado da execução integrada com contribuição ativa.</a:t>
            </a:r>
          </a:p>
        </p:txBody>
      </p:sp>
    </p:spTree>
    <p:extLst>
      <p:ext uri="{BB962C8B-B14F-4D97-AF65-F5344CB8AC3E}">
        <p14:creationId xmlns:p14="http://schemas.microsoft.com/office/powerpoint/2010/main" val="23515091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GNN: análise da rede de transações Pix">
            <a:extLst xmlns:a="http://schemas.openxmlformats.org/drawingml/2006/main">
              <a:ext uri="{FF2B5EF4-FFF2-40B4-BE49-F238E27FC236}">
                <a16:creationId xmlns:a16="http://schemas.microsoft.com/office/drawing/2014/main" id="{F5DD3D35-27E6-4457-9758-E2FDBF81A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2E36"/>
                </a:solidFill>
                <a:latin typeface="Arial"/>
                <a:ea typeface="Arial"/>
                <a:cs typeface="Arial"/>
              </a:rPr>
              <a:t>GNN: análise da rede de transações Pix</a:t>
            </a:r>
          </a:p>
        </p:txBody>
      </p:sp>
      <p:sp>
        <p:nvSpPr>
          <p:cNvPr id="2" name="06">
            <a:extLst xmlns:a="http://schemas.openxmlformats.org/drawingml/2006/main">
              <a:ext uri="{FF2B5EF4-FFF2-40B4-BE49-F238E27FC236}">
                <a16:creationId xmlns:a16="http://schemas.microsoft.com/office/drawing/2014/main" id="{5AB72E0E-7582-4A49-A3BD-0092567F9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238875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9636B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Graph Neural Network">
            <a:extLst xmlns:a="http://schemas.openxmlformats.org/drawingml/2006/main">
              <a:ext uri="{FF2B5EF4-FFF2-40B4-BE49-F238E27FC236}">
                <a16:creationId xmlns:a16="http://schemas.microsoft.com/office/drawing/2014/main" id="{6FE67396-D3A3-4053-B209-9878D2D4A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420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420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420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420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420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420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420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420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420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420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420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087E80"/>
                </a:solidFill>
                <a:latin typeface="Arial"/>
                <a:ea typeface="Arial"/>
                <a:cs typeface="Arial"/>
              </a:rPr>
              <a:t>Graph Neural Network</a:t>
            </a:r>
          </a:p>
        </p:txBody>
      </p:sp>
      <p:sp>
        <p:nvSpPr>
          <p:cNvPr id="4" name="A rede agrega sinais dos vizinhos e considera&#10;a direção">
            <a:extLst xmlns:a="http://schemas.openxmlformats.org/drawingml/2006/main">
              <a:ext uri="{FF2B5EF4-FFF2-40B4-BE49-F238E27FC236}">
                <a16:creationId xmlns:a16="http://schemas.microsoft.com/office/drawing/2014/main" id="{0DB0EFC5-241B-492E-BE74-CF04F2EEA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62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62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62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62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62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62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62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62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62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62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112E36"/>
                </a:solidFill>
                <a:latin typeface="Arial"/>
                <a:ea typeface="Arial"/>
                <a:cs typeface="Arial"/>
              </a:rPr>
              <a:t>A rede agrega sinais dos vizinhos e considera</a:t>
            </a:r>
          </a:p>
          <a:p xmlns:a="http://schemas.openxmlformats.org/drawingml/2006/main">
            <a:pPr>
              <a:buNone/>
              <a:defRPr sz="262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112E36"/>
                </a:solidFill>
                <a:latin typeface="Arial"/>
                <a:ea typeface="Arial"/>
                <a:cs typeface="Arial"/>
              </a:rPr>
              <a:t>a direção e o tempo das transações.</a:t>
            </a:r>
          </a:p>
        </p:txBody>
      </p:sp>
      <p:sp>
        <p:nvSpPr>
          <p:cNvPr id="5" name="Exemplo de padrão investigado">
            <a:extLst xmlns:a="http://schemas.openxmlformats.org/drawingml/2006/main">
              <a:ext uri="{FF2B5EF4-FFF2-40B4-BE49-F238E27FC236}">
                <a16:creationId xmlns:a16="http://schemas.microsoft.com/office/drawing/2014/main" id="{B4E9A392-3EB1-4176-BAEF-6BCC28F19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05275"/>
            <a:ext cx="10820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49636B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1">
                <a:solidFill>
                  <a:srgbClr val="49636B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1">
                <a:solidFill>
                  <a:srgbClr val="49636B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1">
                <a:solidFill>
                  <a:srgbClr val="49636B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1">
                <a:solidFill>
                  <a:srgbClr val="49636B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1">
                <a:solidFill>
                  <a:srgbClr val="49636B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1">
                <a:solidFill>
                  <a:srgbClr val="49636B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1">
                <a:solidFill>
                  <a:srgbClr val="49636B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1">
                <a:solidFill>
                  <a:srgbClr val="49636B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1">
                <a:solidFill>
                  <a:srgbClr val="4963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1">
                <a:solidFill>
                  <a:srgbClr val="49636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49636B"/>
                </a:solidFill>
                <a:latin typeface="Arial"/>
                <a:ea typeface="Arial"/>
                <a:cs typeface="Arial"/>
              </a:rPr>
              <a:t>Exemplo de padrão investigado</a:t>
            </a:r>
          </a:p>
        </p:txBody>
      </p:sp>
      <p:sp>
        <p:nvSpPr>
          <p:cNvPr id="6" name="Vários recebimentos seguidos de repasses rápidos">
            <a:extLst xmlns:a="http://schemas.openxmlformats.org/drawingml/2006/main">
              <a:ext uri="{FF2B5EF4-FFF2-40B4-BE49-F238E27FC236}">
                <a16:creationId xmlns:a16="http://schemas.microsoft.com/office/drawing/2014/main" id="{6A71423B-31DD-4E6C-811A-1A1563A3E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0100"/>
            <a:ext cx="108204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55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55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55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55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55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55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55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55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55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55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55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2E36"/>
                </a:solidFill>
                <a:latin typeface="Arial"/>
                <a:ea typeface="Arial"/>
                <a:cs typeface="Arial"/>
              </a:rPr>
              <a:t>Vários recebimentos seguidos de repasses rápidos</a:t>
            </a:r>
          </a:p>
        </p:txBody>
      </p:sp>
      <p:sp>
        <p:nvSpPr>
          <p:cNvPr id="7" name="Integração atual em shadow: observa e registra, sem alt">
            <a:extLst xmlns:a="http://schemas.openxmlformats.org/drawingml/2006/main">
              <a:ext uri="{FF2B5EF4-FFF2-40B4-BE49-F238E27FC236}">
                <a16:creationId xmlns:a16="http://schemas.microsoft.com/office/drawing/2014/main" id="{97DED097-281B-4DB3-90ED-3FCC5E2DF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67375"/>
            <a:ext cx="1057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087E8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0">
                <a:solidFill>
                  <a:srgbClr val="087E8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0">
                <a:solidFill>
                  <a:srgbClr val="087E8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0">
                <a:solidFill>
                  <a:srgbClr val="087E8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0">
                <a:solidFill>
                  <a:srgbClr val="087E8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0">
                <a:solidFill>
                  <a:srgbClr val="087E8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0">
                <a:solidFill>
                  <a:srgbClr val="087E8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0">
                <a:solidFill>
                  <a:srgbClr val="087E8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0">
                <a:solidFill>
                  <a:srgbClr val="087E8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0">
                <a:solidFill>
                  <a:srgbClr val="087E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087E8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87E80"/>
                </a:solidFill>
                <a:latin typeface="Arial"/>
                <a:ea typeface="Arial"/>
                <a:cs typeface="Arial"/>
              </a:rPr>
              <a:t>GNN integrada às regras: pode elevar uma aprovação para 2FA.</a:t>
            </a:r>
          </a:p>
          <a:p xmlns:a="http://schemas.openxmlformats.org/drawingml/2006/main">
            <a:pPr>
              <a:buNone/>
              <a:defRPr sz="1950" b="0">
                <a:solidFill>
                  <a:srgbClr val="087E8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87E80"/>
                </a:solidFill>
                <a:latin typeface="Arial"/>
                <a:ea typeface="Arial"/>
                <a:cs typeface="Arial"/>
              </a:rPr>
              <a:t>O risk_score permanece separado e o grafo não rejeita sozinho.</a:t>
            </a:r>
          </a:p>
        </p:txBody>
      </p:sp>
    </p:spTree>
    <p:extLst>
      <p:ext uri="{BB962C8B-B14F-4D97-AF65-F5344CB8AC3E}">
        <p14:creationId xmlns:p14="http://schemas.microsoft.com/office/powerpoint/2010/main" val="64156902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Validação da GNN e controle de falsos positivos">
            <a:extLst xmlns:a="http://schemas.openxmlformats.org/drawingml/2006/main">
              <a:ext uri="{FF2B5EF4-FFF2-40B4-BE49-F238E27FC236}">
                <a16:creationId xmlns:a16="http://schemas.microsoft.com/office/drawing/2014/main" id="{0BFAB2DD-2E1A-418B-A4DD-61BA788CF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2E36"/>
                </a:solidFill>
                <a:latin typeface="Arial"/>
                <a:ea typeface="Arial"/>
                <a:cs typeface="Arial"/>
              </a:rPr>
              <a:t>Validação da GNN e controle de falsos positivos</a:t>
            </a:r>
          </a:p>
        </p:txBody>
      </p:sp>
      <p:sp>
        <p:nvSpPr>
          <p:cNvPr id="2" name="07">
            <a:extLst xmlns:a="http://schemas.openxmlformats.org/drawingml/2006/main">
              <a:ext uri="{FF2B5EF4-FFF2-40B4-BE49-F238E27FC236}">
                <a16:creationId xmlns:a16="http://schemas.microsoft.com/office/drawing/2014/main" id="{6A577D69-36A2-466C-B59F-C10A5879D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238875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9636B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Meta inicial: menos de 10% de falsos positivos">
            <a:extLst xmlns:a="http://schemas.openxmlformats.org/drawingml/2006/main">
              <a:ext uri="{FF2B5EF4-FFF2-40B4-BE49-F238E27FC236}">
                <a16:creationId xmlns:a16="http://schemas.microsoft.com/office/drawing/2014/main" id="{01C781CC-BC3A-4A73-9C5D-B32CF4236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33525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7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47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47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47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47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47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47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47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47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47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47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49636B"/>
                </a:solidFill>
                <a:latin typeface="Arial"/>
                <a:ea typeface="Arial"/>
                <a:cs typeface="Arial"/>
              </a:rPr>
              <a:t>Meta inicial: menos de 10% de falsos positivos</a:t>
            </a:r>
          </a:p>
        </p:txBody>
      </p:sp>
      <p:sp>
        <p:nvSpPr>
          <p:cNvPr id="4" name="Critério experimental mais rigoroso">
            <a:extLst xmlns:a="http://schemas.openxmlformats.org/drawingml/2006/main">
              <a:ext uri="{FF2B5EF4-FFF2-40B4-BE49-F238E27FC236}">
                <a16:creationId xmlns:a16="http://schemas.microsoft.com/office/drawing/2014/main" id="{AF2CFD41-4661-41C6-B13F-CFB3982D0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0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40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40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40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40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40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40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40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40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40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40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87E80"/>
                </a:solidFill>
                <a:latin typeface="Arial"/>
                <a:ea typeface="Arial"/>
                <a:cs typeface="Arial"/>
              </a:rPr>
              <a:t>Critério experimental mais rigoroso</a:t>
            </a:r>
          </a:p>
        </p:txBody>
      </p:sp>
      <p:sp>
        <p:nvSpPr>
          <p:cNvPr id="5" name="Até 1% no limite superior nominal de 95% para novos&#10;des">
            <a:extLst xmlns:a="http://schemas.openxmlformats.org/drawingml/2006/main">
              <a:ext uri="{FF2B5EF4-FFF2-40B4-BE49-F238E27FC236}">
                <a16:creationId xmlns:a16="http://schemas.microsoft.com/office/drawing/2014/main" id="{4FD8E99C-5F0E-479B-8936-19920FB61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38475"/>
            <a:ext cx="108204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12E36"/>
                </a:solidFill>
                <a:latin typeface="Arial"/>
                <a:ea typeface="Arial"/>
                <a:cs typeface="Arial"/>
              </a:rPr>
              <a:t>Até 1% no limite superior nominal de 95% para novos</a:t>
            </a:r>
          </a:p>
          <a:p xmlns:a="http://schemas.openxmlformats.org/drawingml/2006/main">
            <a:pPr>
              <a:buNone/>
              <a:defRPr sz="21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12E36"/>
                </a:solidFill>
                <a:latin typeface="Arial"/>
                <a:ea typeface="Arial"/>
                <a:cs typeface="Arial"/>
              </a:rPr>
              <a:t>desafios em legítimos aprováveis, com ganho de detecção.</a:t>
            </a:r>
          </a:p>
        </p:txBody>
      </p:sp>
      <p:sp>
        <p:nvSpPr>
          <p:cNvPr id="6" name="Teste sintético mais recente">
            <a:extLst xmlns:a="http://schemas.openxmlformats.org/drawingml/2006/main">
              <a:ext uri="{FF2B5EF4-FFF2-40B4-BE49-F238E27FC236}">
                <a16:creationId xmlns:a16="http://schemas.microsoft.com/office/drawing/2014/main" id="{0E32187D-AD05-4BC8-A239-8512CD2FB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533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75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75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75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75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75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75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75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75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75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75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12E36"/>
                </a:solidFill>
                <a:latin typeface="Arial"/>
                <a:ea typeface="Arial"/>
                <a:cs typeface="Arial"/>
              </a:rPr>
              <a:t>Teste sintético mais recente</a:t>
            </a:r>
          </a:p>
        </p:txBody>
      </p:sp>
      <p:sp>
        <p:nvSpPr>
          <p:cNvPr id="7" name="1.800 cenários de teste&#10;0 / 1.064 legítimos com 2FA adi">
            <a:extLst xmlns:a="http://schemas.openxmlformats.org/drawingml/2006/main">
              <a:ext uri="{FF2B5EF4-FFF2-40B4-BE49-F238E27FC236}">
                <a16:creationId xmlns:a16="http://schemas.microsoft.com/office/drawing/2014/main" id="{E07A5901-FE86-4916-9000-AF6B6251B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6286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12E36"/>
                </a:solidFill>
                <a:latin typeface="Arial"/>
                <a:ea typeface="Arial"/>
                <a:cs typeface="Arial"/>
              </a:rPr>
              <a:t>1.800 cenários de teste</a:t>
            </a:r>
          </a:p>
          <a:p xmlns:a="http://schemas.openxmlformats.org/drawingml/2006/main">
            <a:pPr>
              <a:buNone/>
              <a:defRPr sz="21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12E36"/>
                </a:solidFill>
                <a:latin typeface="Arial"/>
                <a:ea typeface="Arial"/>
                <a:cs typeface="Arial"/>
              </a:rPr>
              <a:t>0 / 1.064 legítimos com 2FA adicional*</a:t>
            </a:r>
          </a:p>
        </p:txBody>
      </p:sp>
      <p:sp>
        <p:nvSpPr>
          <p:cNvPr id="8" name="Contribuição&#10;segue desativada">
            <a:extLst xmlns:a="http://schemas.openxmlformats.org/drawingml/2006/main">
              <a:ext uri="{FF2B5EF4-FFF2-40B4-BE49-F238E27FC236}">
                <a16:creationId xmlns:a16="http://schemas.microsoft.com/office/drawing/2014/main" id="{5B63DB62-888C-46F1-95A9-4630619E6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371975"/>
            <a:ext cx="36004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62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62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62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62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62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62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62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62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62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62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087E80"/>
                </a:solidFill>
                <a:latin typeface="Arial"/>
                <a:ea typeface="Arial"/>
                <a:cs typeface="Arial"/>
              </a:rPr>
              <a:t>GNN integrada</a:t>
            </a:r>
          </a:p>
          <a:p xmlns:a="http://schemas.openxmlformats.org/drawingml/2006/main">
            <a:pPr>
              <a:buNone/>
              <a:defRPr sz="262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087E80"/>
                </a:solidFill>
                <a:latin typeface="Arial"/>
                <a:ea typeface="Arial"/>
                <a:cs typeface="Arial"/>
              </a:rPr>
              <a:t>às regras</a:t>
            </a:r>
          </a:p>
        </p:txBody>
      </p:sp>
      <p:sp>
        <p:nvSpPr>
          <p:cNvPr id="9" name="* Em cada um dos três candidatos com calibração conserv">
            <a:extLst xmlns:a="http://schemas.openxmlformats.org/drawingml/2006/main">
              <a:ext uri="{FF2B5EF4-FFF2-40B4-BE49-F238E27FC236}">
                <a16:creationId xmlns:a16="http://schemas.microsoft.com/office/drawing/2014/main" id="{FA966159-00E3-47FF-86D0-B13C05313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53125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7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7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7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7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7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7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7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7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7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9636B"/>
                </a:solidFill>
                <a:latin typeface="Arial"/>
                <a:ea typeface="Arial"/>
                <a:cs typeface="Arial"/>
              </a:rPr>
              <a:t>* Em cada um dos três candidatos com calibração conservadora. Dados sintéticos.</a:t>
            </a:r>
          </a:p>
          <a:p xmlns:a="http://schemas.openxmlformats.org/drawingml/2006/main">
            <a:pPr>
              <a:buNone/>
              <a:defRPr sz="157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9636B"/>
                </a:solidFill>
                <a:latin typeface="Arial"/>
                <a:ea typeface="Arial"/>
                <a:cs typeface="Arial"/>
              </a:rPr>
              <a:t>Após a validação, a equipe habilitou a contribuição de 2FA no protótipo.</a:t>
            </a:r>
          </a:p>
        </p:txBody>
      </p:sp>
    </p:spTree>
    <p:extLst>
      <p:ext uri="{BB962C8B-B14F-4D97-AF65-F5344CB8AC3E}">
        <p14:creationId xmlns:p14="http://schemas.microsoft.com/office/powerpoint/2010/main" val="194275448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Demonstração: decisão com justificativas">
            <a:extLst xmlns:a="http://schemas.openxmlformats.org/drawingml/2006/main">
              <a:ext uri="{FF2B5EF4-FFF2-40B4-BE49-F238E27FC236}">
                <a16:creationId xmlns:a16="http://schemas.microsoft.com/office/drawing/2014/main" id="{0740DFCA-A3FC-42C3-8AE9-7E50BDF2B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2E36"/>
                </a:solidFill>
                <a:latin typeface="Arial"/>
                <a:ea typeface="Arial"/>
                <a:cs typeface="Arial"/>
              </a:rPr>
              <a:t>Demonstração: decisão com justificativas</a:t>
            </a:r>
          </a:p>
        </p:txBody>
      </p:sp>
      <p:sp>
        <p:nvSpPr>
          <p:cNvPr id="2" name="08">
            <a:extLst xmlns:a="http://schemas.openxmlformats.org/drawingml/2006/main">
              <a:ext uri="{FF2B5EF4-FFF2-40B4-BE49-F238E27FC236}">
                <a16:creationId xmlns:a16="http://schemas.microsoft.com/office/drawing/2014/main" id="{954AC7F9-F05C-437C-88EF-F4B10D13D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238875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9636B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0">
            <a:extLst xmlns:a="http://schemas.openxmlformats.org/drawingml/2006/main">
              <a:ext uri="{FF2B5EF4-FFF2-40B4-BE49-F238E27FC236}">
                <a16:creationId xmlns:a16="http://schemas.microsoft.com/office/drawing/2014/main" id="{AE5E1084-AB85-4FE7-B4D0-BCA783082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3333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69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69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69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69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69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69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69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69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69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69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69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pPr>
            <a:r>
              <a:rPr sz="6900" b="1">
                <a:solidFill>
                  <a:srgbClr val="112E36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4" name="Aprovado">
            <a:extLst xmlns:a="http://schemas.openxmlformats.org/drawingml/2006/main">
              <a:ext uri="{FF2B5EF4-FFF2-40B4-BE49-F238E27FC236}">
                <a16:creationId xmlns:a16="http://schemas.microsoft.com/office/drawing/2014/main" id="{C6441795-9DEE-4F84-873E-4CCD2B9E6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4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4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4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4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4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4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4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4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4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4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12E36"/>
                </a:solidFill>
                <a:latin typeface="Arial"/>
                <a:ea typeface="Arial"/>
                <a:cs typeface="Arial"/>
              </a:rPr>
              <a:t>Aprovado</a:t>
            </a:r>
          </a:p>
        </p:txBody>
      </p:sp>
      <p:sp>
        <p:nvSpPr>
          <p:cNvPr id="5" name="Pagamento normal">
            <a:extLst xmlns:a="http://schemas.openxmlformats.org/drawingml/2006/main">
              <a:ext uri="{FF2B5EF4-FFF2-40B4-BE49-F238E27FC236}">
                <a16:creationId xmlns:a16="http://schemas.microsoft.com/office/drawing/2014/main" id="{1AE4D084-25DA-4269-80A1-B19C860B6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38625"/>
            <a:ext cx="333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49636B"/>
                </a:solidFill>
                <a:latin typeface="Arial"/>
                <a:ea typeface="Arial"/>
                <a:cs typeface="Arial"/>
              </a:rPr>
              <a:t>Pagamento normal</a:t>
            </a:r>
          </a:p>
        </p:txBody>
      </p:sp>
      <p:sp>
        <p:nvSpPr>
          <p:cNvPr id="6" name="35">
            <a:extLst xmlns:a="http://schemas.openxmlformats.org/drawingml/2006/main">
              <a:ext uri="{FF2B5EF4-FFF2-40B4-BE49-F238E27FC236}">
                <a16:creationId xmlns:a16="http://schemas.microsoft.com/office/drawing/2014/main" id="{49C4FDE5-1EFA-48A0-8395-A6FB4128A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981200"/>
            <a:ext cx="3333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690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690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690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690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690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690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690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690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690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690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690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pPr>
            <a:r>
              <a:rPr sz="6900" b="1">
                <a:solidFill>
                  <a:srgbClr val="087E80"/>
                </a:solidFill>
                <a:latin typeface="Arial"/>
                <a:ea typeface="Arial"/>
                <a:cs typeface="Arial"/>
              </a:rPr>
              <a:t>35</a:t>
            </a:r>
          </a:p>
        </p:txBody>
      </p:sp>
      <p:sp>
        <p:nvSpPr>
          <p:cNvPr id="7" name="Solicitar 2FA">
            <a:extLst xmlns:a="http://schemas.openxmlformats.org/drawingml/2006/main">
              <a:ext uri="{FF2B5EF4-FFF2-40B4-BE49-F238E27FC236}">
                <a16:creationId xmlns:a16="http://schemas.microsoft.com/office/drawing/2014/main" id="{257975A0-34D4-4798-A58C-4CAB7A10C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429000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4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4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4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4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4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4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4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4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4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4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12E36"/>
                </a:solidFill>
                <a:latin typeface="Arial"/>
                <a:ea typeface="Arial"/>
                <a:cs typeface="Arial"/>
              </a:rPr>
              <a:t>Solicitar 2FA</a:t>
            </a:r>
          </a:p>
        </p:txBody>
      </p:sp>
      <p:sp>
        <p:nvSpPr>
          <p:cNvPr id="8" name="Aparelho e destino novos">
            <a:extLst xmlns:a="http://schemas.openxmlformats.org/drawingml/2006/main">
              <a:ext uri="{FF2B5EF4-FFF2-40B4-BE49-F238E27FC236}">
                <a16:creationId xmlns:a16="http://schemas.microsoft.com/office/drawing/2014/main" id="{A59F9629-2EC5-4FFB-A57F-D9A51E4A3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238625"/>
            <a:ext cx="333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49636B"/>
                </a:solidFill>
                <a:latin typeface="Arial"/>
                <a:ea typeface="Arial"/>
                <a:cs typeface="Arial"/>
              </a:rPr>
              <a:t>Aparelho e destino novos</a:t>
            </a:r>
          </a:p>
        </p:txBody>
      </p:sp>
      <p:sp>
        <p:nvSpPr>
          <p:cNvPr id="9" name="95">
            <a:extLst xmlns:a="http://schemas.openxmlformats.org/drawingml/2006/main">
              <a:ext uri="{FF2B5EF4-FFF2-40B4-BE49-F238E27FC236}">
                <a16:creationId xmlns:a16="http://schemas.microsoft.com/office/drawing/2014/main" id="{63F51391-96B0-471E-BEE5-7AD3CFA70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981200"/>
            <a:ext cx="3333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69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69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69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69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69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69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69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69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69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69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69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pPr>
            <a:r>
              <a:rPr sz="6900" b="1">
                <a:solidFill>
                  <a:srgbClr val="112E36"/>
                </a:solidFill>
                <a:latin typeface="Arial"/>
                <a:ea typeface="Arial"/>
                <a:cs typeface="Arial"/>
              </a:rPr>
              <a:t>95</a:t>
            </a:r>
          </a:p>
        </p:txBody>
      </p:sp>
      <p:sp>
        <p:nvSpPr>
          <p:cNvPr id="10" name="Rejeitado">
            <a:extLst xmlns:a="http://schemas.openxmlformats.org/drawingml/2006/main">
              <a:ext uri="{FF2B5EF4-FFF2-40B4-BE49-F238E27FC236}">
                <a16:creationId xmlns:a16="http://schemas.microsoft.com/office/drawing/2014/main" id="{EC1A2C5F-C941-48FA-8E42-B4BC323A3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429000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4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4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4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4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4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4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4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4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4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4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12E36"/>
                </a:solidFill>
                <a:latin typeface="Arial"/>
                <a:ea typeface="Arial"/>
                <a:cs typeface="Arial"/>
              </a:rPr>
              <a:t>Rejeitado</a:t>
            </a:r>
          </a:p>
        </p:txBody>
      </p:sp>
      <p:sp>
        <p:nvSpPr>
          <p:cNvPr id="11" name="Perfil + destino desconhecido">
            <a:extLst xmlns:a="http://schemas.openxmlformats.org/drawingml/2006/main">
              <a:ext uri="{FF2B5EF4-FFF2-40B4-BE49-F238E27FC236}">
                <a16:creationId xmlns:a16="http://schemas.microsoft.com/office/drawing/2014/main" id="{1296733F-7C08-47FA-A2D2-F98187D5E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238625"/>
            <a:ext cx="333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49636B"/>
                </a:solidFill>
                <a:latin typeface="Arial"/>
                <a:ea typeface="Arial"/>
                <a:cs typeface="Arial"/>
              </a:rPr>
              <a:t>Perfil + destino desconhecido</a:t>
            </a:r>
          </a:p>
        </p:txBody>
      </p:sp>
      <p:sp>
        <p:nvSpPr>
          <p:cNvPr id="12" name="Resposta com motivos. Decisão e evidências persistidas.">
            <a:extLst xmlns:a="http://schemas.openxmlformats.org/drawingml/2006/main">
              <a:ext uri="{FF2B5EF4-FFF2-40B4-BE49-F238E27FC236}">
                <a16:creationId xmlns:a16="http://schemas.microsoft.com/office/drawing/2014/main" id="{F0C84D12-346E-4731-BEA7-0255DAD16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00700"/>
            <a:ext cx="1057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12E36"/>
                </a:solidFill>
                <a:latin typeface="Arial"/>
                <a:ea typeface="Arial"/>
                <a:cs typeface="Arial"/>
              </a:rPr>
              <a:t>Resposta com motivos e evidências persistidas. Reenvios preservam a decisão.</a:t>
            </a:r>
          </a:p>
          <a:p xmlns:a="http://schemas.openxmlformats.org/drawingml/2006/main">
            <a:pPr>
              <a:buNone/>
              <a:defRPr sz="202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12E36"/>
                </a:solidFill>
                <a:latin typeface="Arial"/>
                <a:ea typeface="Arial"/>
                <a:cs typeface="Arial"/>
              </a:rPr>
              <a:t>A GNN pode solicitar 2FA mesmo com risk_score 0.</a:t>
            </a:r>
          </a:p>
        </p:txBody>
      </p:sp>
    </p:spTree>
    <p:extLst>
      <p:ext uri="{BB962C8B-B14F-4D97-AF65-F5344CB8AC3E}">
        <p14:creationId xmlns:p14="http://schemas.microsoft.com/office/powerpoint/2010/main" val="38426099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12E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erguntas">
            <a:extLst xmlns:a="http://schemas.openxmlformats.org/drawingml/2006/main">
              <a:ext uri="{FF2B5EF4-FFF2-40B4-BE49-F238E27FC236}">
                <a16:creationId xmlns:a16="http://schemas.microsoft.com/office/drawing/2014/main" id="{61ABDE3F-ADEF-41C7-BFC8-272976BE1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108204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6600" b="1">
                <a:solidFill>
                  <a:srgbClr val="B9E7DC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6600" b="1">
                <a:solidFill>
                  <a:srgbClr val="B9E7DC"/>
                </a:solidFill>
                <a:latin typeface="Arial"/>
                <a:ea typeface="Arial"/>
                <a:cs typeface="Arial"/>
              </a:defRPr>
            </a:pPr>
            <a:r>
              <a:rPr sz="6600" b="1">
                <a:solidFill>
                  <a:srgbClr val="B9E7DC"/>
                </a:solidFill>
                <a:latin typeface="Arial"/>
                <a:ea typeface="Arial"/>
                <a:cs typeface="Arial"/>
              </a:rPr>
              <a:t>Perguntas</a:t>
            </a:r>
          </a:p>
        </p:txBody>
      </p:sp>
      <p:sp>
        <p:nvSpPr>
          <p:cNvPr id="2" name="09">
            <a:extLst xmlns:a="http://schemas.openxmlformats.org/drawingml/2006/main">
              <a:ext uri="{FF2B5EF4-FFF2-40B4-BE49-F238E27FC236}">
                <a16:creationId xmlns:a16="http://schemas.microsoft.com/office/drawing/2014/main" id="{28B9ABAB-9D4F-4B3D-B0C4-CDD6C4EDE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238875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B9E7DC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00" b="0">
                <a:solidFill>
                  <a:srgbClr val="B9E7DC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00" b="0">
                <a:solidFill>
                  <a:srgbClr val="B9E7DC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00" b="0">
                <a:solidFill>
                  <a:srgbClr val="B9E7DC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00" b="0">
                <a:solidFill>
                  <a:srgbClr val="B9E7DC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00" b="0">
                <a:solidFill>
                  <a:srgbClr val="B9E7DC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00" b="0">
                <a:solidFill>
                  <a:srgbClr val="B9E7DC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00" b="0">
                <a:solidFill>
                  <a:srgbClr val="B9E7DC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00" b="0">
                <a:solidFill>
                  <a:srgbClr val="B9E7DC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00" b="0">
                <a:solidFill>
                  <a:srgbClr val="B9E7D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00" b="0">
                <a:solidFill>
                  <a:srgbClr val="B9E7D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9E7DC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Pix Antifraude">
            <a:extLst xmlns:a="http://schemas.openxmlformats.org/drawingml/2006/main">
              <a:ext uri="{FF2B5EF4-FFF2-40B4-BE49-F238E27FC236}">
                <a16:creationId xmlns:a16="http://schemas.microsoft.com/office/drawing/2014/main" id="{D4C0AF8D-4AD4-49E8-B563-230BF6A47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01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Pix Antifraude</a:t>
            </a:r>
          </a:p>
        </p:txBody>
      </p:sp>
      <p:sp>
        <p:nvSpPr>
          <p:cNvPr id="5" name="Vinícius Guimarães Drexler e Wallace Dametto Teixeira">
            <a:extLst xmlns:a="http://schemas.openxmlformats.org/drawingml/2006/main">
              <a:ext uri="{FF2B5EF4-FFF2-40B4-BE49-F238E27FC236}">
                <a16:creationId xmlns:a16="http://schemas.microsoft.com/office/drawing/2014/main" id="{952F266B-BEC4-4635-BEBB-EC23865BC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10200"/>
            <a:ext cx="108204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B9E7DC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0">
                <a:solidFill>
                  <a:srgbClr val="B9E7DC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0">
                <a:solidFill>
                  <a:srgbClr val="B9E7DC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0">
                <a:solidFill>
                  <a:srgbClr val="B9E7DC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0">
                <a:solidFill>
                  <a:srgbClr val="B9E7DC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0">
                <a:solidFill>
                  <a:srgbClr val="B9E7DC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0">
                <a:solidFill>
                  <a:srgbClr val="B9E7DC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0">
                <a:solidFill>
                  <a:srgbClr val="B9E7DC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0">
                <a:solidFill>
                  <a:srgbClr val="B9E7DC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0">
                <a:solidFill>
                  <a:srgbClr val="B9E7D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B9E7D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9E7DC"/>
                </a:solidFill>
                <a:latin typeface="Arial"/>
                <a:ea typeface="Arial"/>
                <a:cs typeface="Arial"/>
              </a:rPr>
              <a:t>Vinícius Guimarães Drexler e Wallace Dametto Teixeira</a:t>
            </a:r>
          </a:p>
        </p:txBody>
      </p:sp>
    </p:spTree>
    <p:extLst>
      <p:ext uri="{BB962C8B-B14F-4D97-AF65-F5344CB8AC3E}">
        <p14:creationId xmlns:p14="http://schemas.microsoft.com/office/powerpoint/2010/main" val="7492089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2026-10-18T12:34:03.8880000Z</dcterms:created>
  <dcterms:modified xsi:type="dcterms:W3CDTF">2026-10-18T12:34:03.8880000Z</dcterms:modified>
</coreProperties>
</file>