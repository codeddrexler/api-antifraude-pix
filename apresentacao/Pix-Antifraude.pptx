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cd25a62d14bd8" /><Relationship Type="http://schemas.openxmlformats.org/officeDocument/2006/relationships/extended-properties" Target="/docProps/app.xml" Id="R155643ea4b98488b" /><Relationship Type="http://schemas.openxmlformats.org/officeDocument/2006/relationships/officeDocument" Target="/ppt/presentation.xml" Id="R1b923fbe0c1d45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c7a437a8b4c4d"/>
  </p:sldMasterIdLst>
  <p:notesMasterIdLst>
    <p:notesMasterId xmlns:r="http://schemas.openxmlformats.org/officeDocument/2006/relationships" r:id="R06bcf1f859b842e1"/>
  </p:notesMasterIdLst>
  <p:sldIdLst>
    <p:sldId xmlns:r="http://schemas.openxmlformats.org/officeDocument/2006/relationships" id="256" r:id="R61a3b963ae6d4ced"/>
    <p:sldId xmlns:r="http://schemas.openxmlformats.org/officeDocument/2006/relationships" id="257" r:id="R2048193e6f7c4bee"/>
    <p:sldId xmlns:r="http://schemas.openxmlformats.org/officeDocument/2006/relationships" id="258" r:id="R5e7f10a8c1f24af4"/>
    <p:sldId xmlns:r="http://schemas.openxmlformats.org/officeDocument/2006/relationships" id="259" r:id="R100651f4e8d143b2"/>
    <p:sldId xmlns:r="http://schemas.openxmlformats.org/officeDocument/2006/relationships" id="260" r:id="R576733a0d02e4cb9"/>
    <p:sldId xmlns:r="http://schemas.openxmlformats.org/officeDocument/2006/relationships" id="261" r:id="R9e39e349f3234901"/>
    <p:sldId xmlns:r="http://schemas.openxmlformats.org/officeDocument/2006/relationships" id="262" r:id="R7a17e172117a4c45"/>
    <p:sldId xmlns:r="http://schemas.openxmlformats.org/officeDocument/2006/relationships" id="263" r:id="R41651eff6b06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d4105f1f74e4e" /><Relationship Type="http://schemas.openxmlformats.org/officeDocument/2006/relationships/slideMaster" Target="/ppt/slideMasters/slideMaster1.xml" Id="R30ec7a437a8b4c4d" /><Relationship Type="http://schemas.openxmlformats.org/officeDocument/2006/relationships/notesMaster" Target="/ppt/notesMasters/notesMaster1.xml" Id="R06bcf1f859b842e1" /><Relationship Type="http://schemas.openxmlformats.org/officeDocument/2006/relationships/presProps" Target="/ppt/presProps.xml" Id="R37a8b23b568d4cc5" /><Relationship Type="http://schemas.openxmlformats.org/officeDocument/2006/relationships/tableStyles" Target="/ppt/tableStyles.xml" Id="R7b10a59a04a64069" /><Relationship Type="http://schemas.openxmlformats.org/officeDocument/2006/relationships/slide" Target="/ppt/slides/slide1.xml" Id="R61a3b963ae6d4ced" /><Relationship Type="http://schemas.openxmlformats.org/officeDocument/2006/relationships/slide" Target="/ppt/slides/slide2.xml" Id="R2048193e6f7c4bee" /><Relationship Type="http://schemas.openxmlformats.org/officeDocument/2006/relationships/slide" Target="/ppt/slides/slide3.xml" Id="R5e7f10a8c1f24af4" /><Relationship Type="http://schemas.openxmlformats.org/officeDocument/2006/relationships/slide" Target="/ppt/slides/slide4.xml" Id="R100651f4e8d143b2" /><Relationship Type="http://schemas.openxmlformats.org/officeDocument/2006/relationships/slide" Target="/ppt/slides/slide5.xml" Id="R576733a0d02e4cb9" /><Relationship Type="http://schemas.openxmlformats.org/officeDocument/2006/relationships/slide" Target="/ppt/slides/slide6.xml" Id="R9e39e349f3234901" /><Relationship Type="http://schemas.openxmlformats.org/officeDocument/2006/relationships/slide" Target="/ppt/slides/slide7.xml" Id="R7a17e172117a4c45" /><Relationship Type="http://schemas.openxmlformats.org/officeDocument/2006/relationships/slide" Target="/ppt/slides/slide8.xml" Id="R41651eff6b06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6f373eb03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f8061800942d1" /><Relationship Type="http://schemas.openxmlformats.org/officeDocument/2006/relationships/notesMaster" Target="/ppt/notesMasters/notesMaster1.xml" Id="R154c6cd8b594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d38d0f774d4334" /><Relationship Type="http://schemas.openxmlformats.org/officeDocument/2006/relationships/notesMaster" Target="/ppt/notesMasters/notesMaster1.xml" Id="Reebe12641c2b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c2f1eca984b1a" /><Relationship Type="http://schemas.openxmlformats.org/officeDocument/2006/relationships/notesMaster" Target="/ppt/notesMasters/notesMaster1.xml" Id="R29403643efee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efc5a7825740fd" /><Relationship Type="http://schemas.openxmlformats.org/officeDocument/2006/relationships/notesMaster" Target="/ppt/notesMasters/notesMaster1.xml" Id="R0c2d568b8450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5df4fc689c41fb" /><Relationship Type="http://schemas.openxmlformats.org/officeDocument/2006/relationships/notesMaster" Target="/ppt/notesMasters/notesMaster1.xml" Id="Rd87c08f1874e4e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8295cdfc8b4392" /><Relationship Type="http://schemas.openxmlformats.org/officeDocument/2006/relationships/notesMaster" Target="/ppt/notesMasters/notesMaster1.xml" Id="Rbbe9e75eb02245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0a4973eaa24fc1" /><Relationship Type="http://schemas.openxmlformats.org/officeDocument/2006/relationships/notesMaster" Target="/ppt/notesMasters/notesMaster1.xml" Id="R9566e0f4d37644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2c3525ccd4109" /><Relationship Type="http://schemas.openxmlformats.org/officeDocument/2006/relationships/notesMaster" Target="/ppt/notesMasters/notesMaster1.xml" Id="Rf2070172d66e4a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 Antifraude</a:t>
            </a:r>
          </a:p>
          <a:p xmlns:a="http://schemas.openxmlformats.org/drawingml/2006/main">
            <a:r>
              <a:t>Tempo sugerido: 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Nosso projeto é uma API para analisar o risco de uma transação Pix antes de o integrador seguir com a operação. A proposta combina regras explicáveis com histórico do pagador e mantém evidências da decisão. Em vez de responder apenas sim ou não, o serviço pode aprovar, solicitar autenticação adicional ou rejeitar. Vou mostrar o problema, como o motor decide e três exemplos concretos. Depois apresento a arquitetura e a extensão experimental com grafos. O foco da entrega é a análise de risco, sem executar o Pix nem a autenticação.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e a solução</a:t>
            </a:r>
          </a:p>
          <a:p xmlns:a="http://schemas.openxmlformats.org/drawingml/2006/main">
            <a:r>
              <a:t>Tempo sugerido: 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desafio é equilibrar proteção e fricção. Uma operação incomum pode ser legítima, enquanto várias tentativas aparentemente simples podem formar um padrão suspeito. Por isso, o projeto não olha apenas para o valor isolado. Ele combina os dados recebidos com o histórico identificado pelo documento do pagador, inclusive quando ele usa contas diferentes. A análise acontece de forma síncrona e sem integração externa no caminho da decisão. A resposta inclui a ação recomendada, a pontuação e os fatores que contribuíram. Isso permite que o integrador explique o resultado e que a equipe revise as regras. Estamos falando de um protótipo de análise. Não afirmamos que já medimos redução de fraude ou de abandono em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Como o motor decide</a:t>
            </a:r>
          </a:p>
          <a:p xmlns:a="http://schemas.openxmlformats.org/drawingml/2006/main">
            <a:r>
              <a:t>Tempo sugerido: 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score varia de zero a cem. O motor avalia todas as regras, aplica os pesos e limita a contribuição de cada grupo antes de somar. Na regra geral, menos de trinta pontos permite aprovar e de trinta a setenta e nove pede autenticação adicional. A partir de oitenta, a rejeição por score exige pelo menos dois fatores positivos. Um único fator alto ainda leva a 2FA. Há duas exceções importantes. A primeira é que o primeiro Pix ou a ausência de uma referência de valor exige 2FA mesmo que o score seja baixo. A segunda é que os limites fortes de frequência ou montante rejeitam diretamente. Portanto, a faixa não deve ser interpretada sozinha. A API também registra a origem da decisão e a versão da política. Esses pontos são parâmetros demonstrativos, não uma probabilidade validada de fraude. E solicitar 2FA significa devolver uma ação ao integrador. A API não realiza essa autenticação.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config/risk-policy.json; docs/risk-scoring.md;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Sinais que sustentam a decisão</a:t>
            </a:r>
          </a:p>
          <a:p xmlns:a="http://schemas.openxmlformats.org/drawingml/2006/main">
            <a:r>
              <a:t>Tempo sugerido: 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Aqui estão os principais sinais. Na frequência, a sexta tentativa dentro de dez minutos ultrapassa o limite. No montante, o total dessa janela, já incluindo o Pix atual, rejeita ao atingir trinta mil reais. São limites demonstrativos do motor. Para o perfil de valores, usamos até dez aprovações anteriores e comparamos o valor atual com cinco vezes a média. Sem aprovações, a primeira tentativa pendente de 2FA pode oferecer uma referência provisória. Outras pendências e rejeições não elevam essa referência. Nos dispositivos, observamos familiaridade, compartilhamento entre titulares e diversidade de aparelhos. Um aparelho compartilhado, sozinho, não implica rejeição. Também consideramos o destino e sinais contextuais. O uso noturno do app só pontua com condições adicionais de valor, histórico e novidade. A política reúne pesos e tetos por fator para limitar sobreposição. Isso torna os parâmetros ajustáveis sem esconder como a pontuação surgiu.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config/risk-policy.json; docs/risk-scoring.md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Três cenários de demonstração</a:t>
            </a:r>
          </a:p>
          <a:p xmlns:a="http://schemas.openxmlformats.org/drawingml/2006/main">
            <a:r>
              <a:t>Tempo sugerido: 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Estes três casos traduzem as regras em resultados fáceis de comparar. Eles vêm do script de demonstração do projeto e usam históricos sintéticos preparados. No primeiro, o pagador tem histórico compatível, usa o mesmo contexto e faz um Pix de dez reais. Nenhum fator soma pontos e o resultado é aprovado com score zero. No segundo, o pagador possui histórico suficiente, mas usa um aparelho novo e envia para um destinatário desconhecido. O aparelho contribui com vinte pontos e o destino com quinze. A soma é trinta e cinco, então o serviço solicita 2FA. No terceiro, a referência é de cem reais e o pedido é de mil reais para um destino desconhecido. O desvio de valor soma oitenta pontos e o destino mais quinze. O resultado é noventa e cinco e rejeição porque dois fatores contribuíram. O mais importante é que o retorno revela essas parcelas e a política utilizada. Se houver uma demonstração ao vivo, este é o momento de executar scripts/demo_score.py em uma base de testes já preparada. A apresentação também funciona apenas com estes exemplos.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scripts/demo_score.py; examples/scored-response.json;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e consistência</a:t>
            </a:r>
          </a:p>
          <a:p xmlns:a="http://schemas.openxmlformats.org/drawingml/2006/main">
            <a:r>
              <a:t>Tempo sugerido: 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arquitetura separa a entrada HTTP, a orquestração, as regras e a persistência. A FastAPI expõe o contrato e os schemas validam e normalizam a entrada. O controller coordena o fluxo e chama o motor de decisão, que recebe a transação e um resumo do histórico sem conhecer HTTP nem abrir conexões. O repository faz as consultas e a escrita no PostgreSQL. Pedido e decisão ficam juntos na mesma transação. Para evitar leituras inconsistentes em chamadas simultâneas, o banco usa travas por ID do Pix, documento do pagador e aparelho. A idempotência também importa: repetir o mesmo ID com conteúdo normalizado igual recupera a decisão original. Se o conteúdo mudar, a API retorna conflito. A decisão persistida conserva suas evidências e sua versão de política. O repositório inclui testes HTTP para limites, persistência, repetição e concorrência. A execução local usa Docker Compose.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docs/architecture.md; README.md;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GNN experimental</a:t>
            </a:r>
          </a:p>
          <a:p xmlns:a="http://schemas.openxmlformats.org/drawingml/2006/main">
            <a:r>
              <a:t>Tempo sugerido: 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extensão com grafos explora relações que atravessam uma transação isolada. Contas e dispositivos são nós. Transferências e uso de aparelhos criam as conexões. Um GraphSAGE supervisionado de duas camadas aprende representações dessas vizinhanças, e um classificador avalia a transação. O treino usa cenários sintéticos, incluindo operações normais, famílias e comerciantes, além de redes fraudulentas. O relatório registra ROC-AUC de zero vírgula novecentos e sessenta e três em duzentos grafos sintéticos de teste. Esse resultado não comprova desempenho no Pix real. No modo padrão, chamado shadow, o modelo apenas registra sua avaliação e a decisão continua a mesma das regras. Existe um modo experimental que permite contribuição de até vinte pontos, mas ele precisa de ativação explícita. Se faltam dados ou a vizinhança excede o limite, o modelo se abstém. Antes de uso real, precisamos avaliar dados representativos e calibrar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docs/gnn-prototype.md; models/gnn-synthetic-v1.metrics.json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Entrega e próximos passos</a:t>
            </a:r>
          </a:p>
          <a:p xmlns:a="http://schemas.openxmlformats.org/drawingml/2006/main">
            <a:r>
              <a:t>Tempo sugerido: 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entrega reúne uma API de análise, regras configuráveis, histórico persistido e explicação por fator. A principal vantagem do desenho é permitir revisar por que uma transação recebeu determinada ação e recuperar esse resultado com segurança em uma repetição. Também temos uma extensão com grafos que pode ser observada sem interferir na decisão padrão. O próximo passo é conseguir resultados confirmados de fraude e de autenticação para avaliar os sinais em dados representativos. Com essa base, seria possível calibrar pesos, medir falsos positivos e acompanhar as mudanças de comportamento ao longo do tempo. Para operação real, também precisamos evoluir os controles e o monitoramento. O escopo continua claro: o serviço recomenda a ação de risco, e a integração executa a autenticação adicional e a liquidação do Pix. Essa é a proposta do Pix Antifraude.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docs/architecture.md; docs/gnn-prototype.md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7d0d737af4a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207c9364746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6a697679d42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de1deb02542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efcd4ecd146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ba369256b40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823B9A-5AEF-4C09-B6EB-715C58ED3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25055B-5859-43FE-A928-DE520694C2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EA0012-737C-4B83-82C7-0D047D0C7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E3FF4D-8B4D-4B0A-9281-77856170A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C68725-8008-4B4F-8419-4C7C0B4E8F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FCB0B1-9CFC-47AB-8718-2115A2942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541E31-D9C2-4773-A5B5-0B910E46E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AACA5A-C047-40B8-A2E5-562FF600EA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049F97-0D41-4ECF-8BBD-C67F1004D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46502-9F76-4B63-B9E5-8183A2105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9683d7cc644de" /><Relationship Type="http://schemas.openxmlformats.org/officeDocument/2006/relationships/slideLayout" Target="/ppt/slideLayouts/slideLayout1.xml" Id="R63ed035d23504afb" /><Relationship Type="http://schemas.openxmlformats.org/officeDocument/2006/relationships/slideLayout" Target="/ppt/slideLayouts/slideLayout2.xml" Id="Rc32eb2fd2aa849e5" /><Relationship Type="http://schemas.openxmlformats.org/officeDocument/2006/relationships/slideLayout" Target="/ppt/slideLayouts/slideLayout3.xml" Id="R175017b973ea4d86" /><Relationship Type="http://schemas.openxmlformats.org/officeDocument/2006/relationships/slideLayout" Target="/ppt/slideLayouts/slideLayout4.xml" Id="Re1d4ff5b77274386" /><Relationship Type="http://schemas.openxmlformats.org/officeDocument/2006/relationships/slideLayout" Target="/ppt/slideLayouts/slideLayout5.xml" Id="R13f969eb2793499c" /><Relationship Type="http://schemas.openxmlformats.org/officeDocument/2006/relationships/slideLayout" Target="/ppt/slideLayouts/slideLayout6.xml" Id="Rc26bdb241ad3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d035d23504afb"/>
    <p:sldLayoutId xmlns:r="http://schemas.openxmlformats.org/officeDocument/2006/relationships" id="2147483650" r:id="Rc32eb2fd2aa849e5"/>
    <p:sldLayoutId xmlns:r="http://schemas.openxmlformats.org/officeDocument/2006/relationships" id="2147483651" r:id="R175017b973ea4d86"/>
    <p:sldLayoutId xmlns:r="http://schemas.openxmlformats.org/officeDocument/2006/relationships" id="2147483652" r:id="Re1d4ff5b77274386"/>
    <p:sldLayoutId xmlns:r="http://schemas.openxmlformats.org/officeDocument/2006/relationships" id="2147483653" r:id="R13f969eb2793499c"/>
    <p:sldLayoutId xmlns:r="http://schemas.openxmlformats.org/officeDocument/2006/relationships" id="2147483654" r:id="Rc26bdb241ad3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5ee58b77943f5" /><Relationship Type="http://schemas.openxmlformats.org/officeDocument/2006/relationships/notesSlide" Target="/ppt/notesSlides/notesSlide1.xml" Id="R4004b6e10c584a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a84994e9c4d9c" /><Relationship Type="http://schemas.openxmlformats.org/officeDocument/2006/relationships/notesSlide" Target="/ppt/notesSlides/notesSlide2.xml" Id="R2ff5a27132ed41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f8b05165f4552" /><Relationship Type="http://schemas.openxmlformats.org/officeDocument/2006/relationships/notesSlide" Target="/ppt/notesSlides/notesSlide3.xml" Id="Re1d0c2b22078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ed53a4c9d4a21" /><Relationship Type="http://schemas.openxmlformats.org/officeDocument/2006/relationships/notesSlide" Target="/ppt/notesSlides/notesSlide4.xml" Id="R5fa64b74bafa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b19e9e5d940b4" /><Relationship Type="http://schemas.openxmlformats.org/officeDocument/2006/relationships/notesSlide" Target="/ppt/notesSlides/notesSlide5.xml" Id="R5a3b68a9acce42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32550c2e240de" /><Relationship Type="http://schemas.openxmlformats.org/officeDocument/2006/relationships/notesSlide" Target="/ppt/notesSlides/notesSlide6.xml" Id="Rc1da7f07cb3646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121c2f29c4f09" /><Relationship Type="http://schemas.openxmlformats.org/officeDocument/2006/relationships/notesSlide" Target="/ppt/notesSlides/notesSlide7.xml" Id="Rce5a202106184a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44731cd704fb6" /><Relationship Type="http://schemas.openxmlformats.org/officeDocument/2006/relationships/notesSlide" Target="/ppt/notesSlides/notesSlide8.xml" Id="R2815b5e1421c48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43F3A-A507-491B-8A7E-8BCB623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77CA9-5078-438C-A1C6-06BE01D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BOOTCAMP QI TECH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3F696-367C-455A-AA94-1067241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Pix Antifraude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986F0-9F98-4E10-9D0D-2FFD4A07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Análise de risco com decisões explicáveis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E0033-4689-47C1-BC23-470423E0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API síncrona com histórico em PostgreSQL</a:t>
            </a:r>
          </a:p>
        </p:txBody>
      </p:sp>
    </p:spTree>
    <p:extLst>
      <p:ext uri="{BB962C8B-B14F-4D97-AF65-F5344CB8AC3E}">
        <p14:creationId xmlns:p14="http://schemas.microsoft.com/office/powerpoint/2010/main" val="431283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3FC57-7F62-4384-A2C2-B237317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O problema e 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5FADE-8B23-4111-ADBA-F58EDD13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75889-15AC-4DE6-81E4-7D3D831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287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Como bloquear risco sem criar</a:t>
            </a:r>
          </a:p>
          <a:p xmlns:a="http://schemas.openxmlformats.org/drawingml/2006/main">
            <a:pPr>
              <a:defRPr sz="360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fricção em todo pagamento?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4B3A-1628-46B7-89AF-0C5BF8BE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O pedido reúne os dados do Pix e das contas.</a:t>
            </a:r>
          </a:p>
          <a:p xmlns:a="http://schemas.openxmlformats.org/drawingml/2006/main">
            <a:pPr>
              <a:defRPr sz="23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O histórico do pagador dá contexto à análise.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AC6A3-11BF-47B2-9E9E-3CB4B29D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A resposta informa a ação, o score e seus motivos.</a:t>
            </a:r>
          </a:p>
        </p:txBody>
      </p:sp>
    </p:spTree>
    <p:extLst>
      <p:ext uri="{BB962C8B-B14F-4D97-AF65-F5344CB8AC3E}">
        <p14:creationId xmlns:p14="http://schemas.microsoft.com/office/powerpoint/2010/main" val="2127196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983CA-3627-4FE3-B2DE-7CDA476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Como o motor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16CFD-1D5B-459E-B5E6-653FF5F4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94228-3D51-4D7C-B1B4-657266C8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0–29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63F56-1389-475C-9EBA-D4CF1DE9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669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Aprova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98D15-B209-4CDA-8102-11DC8CA3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Histórico e sinais compatíveis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098A-8940-4EC5-A110-2C1EC066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A96919"/>
                </a:solidFill>
                <a:latin typeface="Arial"/>
                <a:ea typeface="Arial"/>
                <a:cs typeface="Arial"/>
              </a:rPr>
              <a:t>30–79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EED73-A74E-42A9-86EB-EFDD042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908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Solicita 2FA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CEE1D-3E18-4681-8D03-F4C4C6BC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86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Autenticação adicional pelo integrador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36130-CCEA-4CB5-BDB7-9BBDB10F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B53C48"/>
                </a:solidFill>
                <a:latin typeface="Arial"/>
                <a:ea typeface="Arial"/>
                <a:cs typeface="Arial"/>
              </a:rPr>
              <a:t>80–100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33D42-B463-464C-A6AB-687DA59A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148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Rejeita*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04741-8888-48B2-8D06-21963FA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101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Pelo menos dois fatores positivos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9466C-6AC5-4CA3-A15C-29A42AF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* Limites fortes têm prioridade. Primeiro Pix ou falta de referência exigem 2FA.</a:t>
            </a:r>
          </a:p>
          <a:p xmlns:a="http://schemas.openxmlformats.org/drawingml/2006/main">
            <a: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O score é heurístico e não representa probabilidade de fraude.</a:t>
            </a:r>
          </a:p>
        </p:txBody>
      </p:sp>
    </p:spTree>
    <p:extLst>
      <p:ext uri="{BB962C8B-B14F-4D97-AF65-F5344CB8AC3E}">
        <p14:creationId xmlns:p14="http://schemas.microsoft.com/office/powerpoint/2010/main" val="1198773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89329-AA4F-415D-A447-12039B6C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Sinais que sustentam a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91F37-6103-4870-9F73-BEE07E2C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87E02-5E3E-415D-9FD6-3A017B2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Volume e frequência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FF57B-D7C9-4E1D-9100-3E86448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6ª tentativa em 10 min ou total ≥ R$ 30 mil: rejeição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0CB0A-4BFE-41C2-B232-CC20BE2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Perfil de valores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D9BA-0ECA-4540-A5AB-343F18F9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Valor ≥ 5 vezes a média de referência: 80 pontos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3577D-DEEC-414C-AF02-38B68B97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Dispositivos e destinatários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98FCF-82EA-44AF-BE15-4E66D346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Aparelho novo, compartilhamento e destino desconhecido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B6281-41BB-4138-BD4A-DC690371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Contexto da operação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125F5-A9F3-4841-9C35-DBD87C05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Idade da conta, histórico inicial e uso noturno do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2068-862F-4C16-8BE5-B04E2D4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Pesos e tetos configuráveis em uma política versionada</a:t>
            </a:r>
          </a:p>
        </p:txBody>
      </p:sp>
    </p:spTree>
    <p:extLst>
      <p:ext uri="{BB962C8B-B14F-4D97-AF65-F5344CB8AC3E}">
        <p14:creationId xmlns:p14="http://schemas.microsoft.com/office/powerpoint/2010/main" val="314279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5E9BF-6423-4EA8-815A-7A431CED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Três cenários de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9DBD9-AFD6-41A6-A33B-4CBAA7C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E1D53-C54E-48E7-B6A9-54DB55C2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323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0AD49-5D71-40C2-A2FC-2D2FF105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Aprovado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5410F-48EA-49AB-9421-8957D82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Histórico compatível</a:t>
            </a:r>
          </a:p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Valor de R$ 10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FB032-F325-4F23-ADBC-8CC3EFBA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323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A96919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96919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A943F-2235-487D-BF84-0C6F453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99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Solicita 2FA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A99E7-B54D-4B1D-8149-1D9F9ECE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Aparelho novo: 20</a:t>
            </a:r>
          </a:p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Destino desconhecido: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FF3BC-3205-4E7A-8BFA-6A2C250E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23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B53C48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B53C48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CE8B1-B0D4-4BE5-A65F-18961A4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Rejeitado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81626-DCE2-4693-B5C6-938B4A9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Acima do perfil: 80</a:t>
            </a:r>
          </a:p>
          <a:p xmlns:a="http://schemas.openxmlformats.org/drawingml/2006/main">
            <a:pPr>
              <a:defRPr sz="20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Destino desconhecido: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0DE6D-FEE5-496F-977B-5D1E0B4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Exemplos sintéticos do script demo_score.py, com histórico preparado</a:t>
            </a:r>
          </a:p>
        </p:txBody>
      </p:sp>
    </p:spTree>
    <p:extLst>
      <p:ext uri="{BB962C8B-B14F-4D97-AF65-F5344CB8AC3E}">
        <p14:creationId xmlns:p14="http://schemas.microsoft.com/office/powerpoint/2010/main" val="272384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C1B6E-3BBE-454A-901F-9526B6C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Arquitetura e consistência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F8311-0EFC-49DB-8842-36DF882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7CCB2-1EFA-4204-A70A-21C58D4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20791-D6DA-4F58-8F56-BE378DF5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Validação do contrato e fronteira HTTP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6F80F-27DA-4285-8B2C-1D7E16E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Controller + motor de decisão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202D-60C3-4EC4-8F9D-4610FB6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Orquestração da análise e regras sem dependência de HTTP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8620-CAD8-4395-A624-CBC0AEF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1DC4C-A700-47BE-80BE-7287B35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Histórico, travas de concorrência e decisões imutáveis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4B553-34A4-4923-B589-6995208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Mesmo ID e conteúdo recuperam a decisão original</a:t>
            </a:r>
          </a:p>
        </p:txBody>
      </p:sp>
    </p:spTree>
    <p:extLst>
      <p:ext uri="{BB962C8B-B14F-4D97-AF65-F5344CB8AC3E}">
        <p14:creationId xmlns:p14="http://schemas.microsoft.com/office/powerpoint/2010/main" val="2010730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4083-A23C-4D5C-AC8F-F76EA31D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GNN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29639-ADE4-4727-A637-BD9300A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76B9-E94A-4175-AD88-292126E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191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Relações entre contas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aparelhos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4ED4-A4E2-46C3-903D-43EB43CF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GraphSAGE de duas camadas</a:t>
            </a:r>
          </a:p>
          <a:p xmlns:a="http://schemas.openxmlformats.org/drawingml/2006/main">
            <a:pPr>
              <a:defRPr sz="2250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Treinamento com dados sintéticos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DE76B-2630-4BC5-9E37-C146A096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1675"/>
            <a:ext cx="3524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0,963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344B6-F216-4E60-9B10-070E32C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ROC-AUC</a:t>
            </a:r>
          </a:p>
          <a:p xmlns:a="http://schemas.openxmlformats.org/drawingml/2006/main">
            <a:pPr>
              <a:defRPr sz="20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200 grafos de teste sintéticos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B09DD-8239-4578-B9A5-9479374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Modo padrão: shadow. Registra o resultado sem alterar a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C937D-E436-4E8A-B260-374F1F8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C5C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C5C2"/>
                </a:solidFill>
                <a:latin typeface="Arial"/>
                <a:ea typeface="Arial"/>
                <a:cs typeface="Arial"/>
              </a:rPr>
              <a:t>O resultado sintético não comprova eficácia em tráfego real</a:t>
            </a:r>
          </a:p>
        </p:txBody>
      </p:sp>
    </p:spTree>
    <p:extLst>
      <p:ext uri="{BB962C8B-B14F-4D97-AF65-F5344CB8AC3E}">
        <p14:creationId xmlns:p14="http://schemas.microsoft.com/office/powerpoint/2010/main" val="253895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B8158-63DF-463F-963B-C6C412E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Entrega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9BDB1-7A92-4B33-A608-8107063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935D-2A12-4598-BC01-143C165F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Uma decisão de risco</a:t>
            </a:r>
          </a:p>
          <a:p xmlns:a="http://schemas.openxmlformats.org/drawingml/2006/main">
            <a:pPr>
              <a:defRPr sz="3750" b="1">
                <a:solidFill>
                  <a:srgbClr val="142C3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C32"/>
                </a:solidFill>
                <a:latin typeface="Arial"/>
                <a:ea typeface="Arial"/>
                <a:cs typeface="Arial"/>
              </a:rPr>
              <a:t>com evidências preservadas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1F31D-9865-4BF8-BF99-CA37343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E0A31-AAD6-4122-A75B-941EA3F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API, regras configuráveis, histórico</a:t>
            </a:r>
          </a:p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e explicação por fator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12D74-FCB7-4D36-AD40-F3AEFD1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887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8875"/>
                </a:solidFill>
                <a:latin typeface="Arial"/>
                <a:ea typeface="Arial"/>
                <a:cs typeface="Arial"/>
              </a:rPr>
              <a:t>Próxima etapa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20F2F-95B6-4B96-AEBC-F1F6604A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Dados reais rotulados, calibração</a:t>
            </a:r>
          </a:p>
          <a:p xmlns:a="http://schemas.openxmlformats.org/drawingml/2006/main">
            <a:pPr>
              <a:defRPr sz="2175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e monitoramento em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DB85D-8B80-4A5E-846D-F9078567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6B"/>
                </a:solidFill>
                <a:latin typeface="Arial"/>
                <a:ea typeface="Arial"/>
                <a:cs typeface="Arial"/>
              </a:rPr>
              <a:t>A integração executa o 2FA e a liquidação do Pix</a:t>
            </a:r>
          </a:p>
        </p:txBody>
      </p:sp>
    </p:spTree>
    <p:extLst>
      <p:ext uri="{BB962C8B-B14F-4D97-AF65-F5344CB8AC3E}">
        <p14:creationId xmlns:p14="http://schemas.microsoft.com/office/powerpoint/2010/main" val="719164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2026-10-17T23:04:53.6100000Z</dcterms:created>
  <dcterms:modified xsi:type="dcterms:W3CDTF">2026-10-17T23:04:53.6100000Z</dcterms:modified>
</coreProperties>
</file>